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4" r:id="rIdSlide9"/>
    <p:sldId id="265" r:id="rIdSlide10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Master1" Type="http://schemas.openxmlformats.org/officeDocument/2006/relationships/slideMaster" Target="slideMasters/slideMaster1.xml"/>
  <Relationship Id="rIdTheme1" Type="http://schemas.openxmlformats.org/officeDocument/2006/relationships/theme" Target="theme/theme1.xml"/>
  <Relationship Id="rIdSlide1" Type="http://schemas.openxmlformats.org/officeDocument/2006/relationships/slide" Target="slides/slide1.xml"/>
  <Relationship Id="rIdSlide2" Type="http://schemas.openxmlformats.org/officeDocument/2006/relationships/slide" Target="slides/slide2.xml"/>
  <Relationship Id="rIdSlide3" Type="http://schemas.openxmlformats.org/officeDocument/2006/relationships/slide" Target="slides/slide3.xml"/>
  <Relationship Id="rIdSlide4" Type="http://schemas.openxmlformats.org/officeDocument/2006/relationships/slide" Target="slides/slide4.xml"/>
  <Relationship Id="rIdSlide5" Type="http://schemas.openxmlformats.org/officeDocument/2006/relationships/slide" Target="slides/slide5.xml"/>
  <Relationship Id="rIdSlide6" Type="http://schemas.openxmlformats.org/officeDocument/2006/relationships/slide" Target="slides/slide6.xml"/>
  <Relationship Id="rIdSlide7" Type="http://schemas.openxmlformats.org/officeDocument/2006/relationships/slide" Target="slides/slide7.xml"/>
  <Relationship Id="rIdSlide8" Type="http://schemas.openxmlformats.org/officeDocument/2006/relationships/slide" Target="slides/slide8.xml"/>
  <Relationship Id="rIdSlide9" Type="http://schemas.openxmlformats.org/officeDocument/2006/relationships/slide" Target="slides/slide9.xml"/>
  <Relationship Id="rIdSlide10" Type="http://schemas.openxmlformats.org/officeDocument/2006/relationships/slide" Target="slides/slide10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Theme1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Img1" Type="http://schemas.openxmlformats.org/officeDocument/2006/relationships/image" Target="../media/media_slide_2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Img1" Type="http://schemas.openxmlformats.org/officeDocument/2006/relationships/image" Target="../media/media_slide_3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Img1" Type="http://schemas.openxmlformats.org/officeDocument/2006/relationships/image" Target="../media/media_slide_4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Img1" Type="http://schemas.openxmlformats.org/officeDocument/2006/relationships/image" Target="../media/media_slide_5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Img1" Type="http://schemas.openxmlformats.org/officeDocument/2006/relationships/image" Target="../media/media_slide_6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Img1" Type="http://schemas.openxmlformats.org/officeDocument/2006/relationships/image" Target="../media/media_slide_7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Img1" Type="http://schemas.openxmlformats.org/officeDocument/2006/relationships/image" Target="../media/media_slide_8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Img1" Type="http://schemas.openxmlformats.org/officeDocument/2006/relationships/image" Target="../media/media_slide_9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Badge"/>
          <p:cNvSpPr/>
          <p:nvPr/>
        </p:nvSpPr>
        <p:spPr>
          <a:xfrm>
            <a:off x="700000" y="650000"/>
            <a:ext cx="5800000" cy="400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txBody>
          <a:bodyPr wrap="square" lIns="114300" tIns="76200" rIns="114300" bIns="76200" anchor="ctr"/>
          <a:lstStyle/>
          <a:p>
            <a:pPr algn="l"/>
            <a:r>
              <a:rPr lang="pt-BR" sz="1100" b="1" dirty="0">
                <a:solidFill>
                  <a:srgbClr val="FFFFFF"/>
                </a:solidFill>
                <a:latin typeface="Calibri"/>
                <a:cs typeface="Calibri"/>
              </a:rPr>
              <a:t>◆ APRESENTAÇÃO EXECUTIVA À DIRETORIA • OUTUBRO/2026</a:t>
            </a:r>
          </a:p>
        </p:txBody>
      </p:sp>
      <p:sp>
        <p:nvSpPr>
          <p:cNvPr id="3" name="CoverTitle"/>
          <p:cNvSpPr/>
          <p:nvPr/>
        </p:nvSpPr>
        <p:spPr>
          <a:xfrm>
            <a:off x="700000" y="1200000"/>
            <a:ext cx="10800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0" tIns="76200" rIns="114300" bIns="76200" anchor="t"/>
          <a:lstStyle/>
          <a:p>
            <a:pPr algn="l">
              <a:spcAft>
                <a:spcPts val="600"/>
              </a:spcAft>
            </a:pPr>
            <a:r>
              <a:rPr lang="pt-BR" sz="3800" b="1" dirty="0">
                <a:solidFill>
                  <a:srgbClr val="38BDF8"/>
                </a:solidFill>
                <a:latin typeface="Calibri"/>
                <a:cs typeface="Calibri"/>
              </a:rPr>
              <a:t>ShopRateio Enterprise</a:t>
            </a:r>
          </a:p>
          <a:p>
            <a:pPr algn="l"/>
            <a:r>
              <a:rPr lang="pt-BR" sz="2400" b="1" dirty="0">
                <a:solidFill>
                  <a:srgbClr val="FFFFFF"/>
                </a:solidFill>
                <a:latin typeface="Calibri"/>
                <a:cs typeface="Calibri"/>
              </a:rPr>
              <a:t>Modernização, Blindagem Contábil e Eficiência no Rateio de Utilidades</a:t>
            </a:r>
          </a:p>
        </p:txBody>
      </p:sp>
      <p:sp>
        <p:nvSpPr>
          <p:cNvPr id="4" name="CoverSubtitle"/>
          <p:cNvSpPr/>
          <p:nvPr/>
        </p:nvSpPr>
        <p:spPr>
          <a:xfrm>
            <a:off x="700000" y="2800000"/>
            <a:ext cx="108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76200" rIns="114300" bIns="76200" anchor="t"/>
          <a:lstStyle/>
          <a:p>
            <a:pPr algn="l"/>
            <a:r>
              <a:rPr lang="pt-BR" sz="1500" dirty="0">
                <a:solidFill>
                  <a:srgbClr val="CBD5E1"/>
                </a:solidFill>
                <a:latin typeface="Calibri"/>
                <a:cs typeface="Calibri"/>
              </a:rPr>
              <a:t>Demonstração prática com os dados reais já preenchidos de Água &amp; Esgoto: como saímos de pranchetas de papel e planilhas manuais para uma operação digital com Diferença Zero e comprovação por foto.</a:t>
            </a:r>
          </a:p>
        </p:txBody>
      </p:sp>
      <p:sp>
        <p:nvSpPr>
          <p:cNvPr id="10" name="CoverKpi_0"/>
          <p:cNvSpPr/>
          <p:nvPr/>
        </p:nvSpPr>
        <p:spPr>
          <a:xfrm>
            <a:off x="700000" y="4100000"/>
            <a:ext cx="2550000" cy="17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14300" tIns="76200" rIns="114300" bIns="76200" anchor="ctr"/>
          <a:lstStyle/>
          <a:p>
            <a:pPr algn="l">
              <a:spcAft>
                <a:spcPts val="800"/>
              </a:spcAft>
            </a:pPr>
            <a:r>
              <a:rPr lang="pt-BR" sz="1000" b="1" dirty="0">
                <a:solidFill>
                  <a:srgbClr val="38BDF8"/>
                </a:solidFill>
                <a:latin typeface="Calibri"/>
                <a:cs typeface="Calibri"/>
              </a:rPr>
              <a:t>INSUMO HOMOLOGADO</a:t>
            </a:r>
          </a:p>
          <a:p>
            <a:pPr algn="l">
              <a:spcAft>
                <a:spcPts val="600"/>
              </a:spcAft>
            </a:pPr>
            <a:r>
              <a:rPr lang="pt-BR" sz="2200" b="1" dirty="0">
                <a:solidFill>
                  <a:srgbClr val="FFFFFF"/>
                </a:solidFill>
                <a:latin typeface="Calibri"/>
                <a:cs typeface="Calibri"/>
              </a:rPr>
              <a:t>💧 Água &amp; Esgoto</a:t>
            </a:r>
          </a:p>
          <a:p>
            <a:pPr algn="l"/>
            <a:r>
              <a:rPr lang="pt-BR" sz="1100" dirty="0">
                <a:solidFill>
                  <a:srgbClr val="94A3B8"/>
                </a:solidFill>
                <a:latin typeface="Calibri"/>
                <a:cs typeface="Calibri"/>
              </a:rPr>
              <a:t>64 Lojas Ativas (100% Lidas)</a:t>
            </a:r>
          </a:p>
        </p:txBody>
      </p:sp>
      <p:sp>
        <p:nvSpPr>
          <p:cNvPr id="11" name="CoverKpi_1"/>
          <p:cNvSpPr/>
          <p:nvPr/>
        </p:nvSpPr>
        <p:spPr>
          <a:xfrm>
            <a:off x="3430000" y="4100000"/>
            <a:ext cx="2550000" cy="17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14300" tIns="76200" rIns="114300" bIns="76200" anchor="ctr"/>
          <a:lstStyle/>
          <a:p>
            <a:pPr algn="l">
              <a:spcAft>
                <a:spcPts val="800"/>
              </a:spcAft>
            </a:pPr>
            <a:r>
              <a:rPr lang="pt-BR" sz="1000" b="1" dirty="0">
                <a:solidFill>
                  <a:srgbClr val="38BDF8"/>
                </a:solidFill>
                <a:latin typeface="Calibri"/>
                <a:cs typeface="Calibri"/>
              </a:rPr>
              <a:t>VOLUME MENSAL AUDITADO</a:t>
            </a:r>
          </a:p>
          <a:p>
            <a:pPr algn="l">
              <a:spcAft>
                <a:spcPts val="600"/>
              </a:spcAft>
            </a:pPr>
            <a:r>
              <a:rPr lang="pt-BR" sz="2200" b="1" dirty="0">
                <a:solidFill>
                  <a:srgbClr val="FFFFFF"/>
                </a:solidFill>
                <a:latin typeface="Calibri"/>
                <a:cs typeface="Calibri"/>
              </a:rPr>
              <a:t>6.081 m³</a:t>
            </a:r>
          </a:p>
          <a:p>
            <a:pPr algn="l"/>
            <a:r>
              <a:rPr lang="pt-BR" sz="1100" dirty="0">
                <a:solidFill>
                  <a:srgbClr val="94A3B8"/>
                </a:solidFill>
                <a:latin typeface="Calibri"/>
                <a:cs typeface="Calibri"/>
              </a:rPr>
              <a:t>Fatura: R$ 90.679,77</a:t>
            </a:r>
          </a:p>
        </p:txBody>
      </p:sp>
      <p:sp>
        <p:nvSpPr>
          <p:cNvPr id="12" name="CoverKpi_2"/>
          <p:cNvSpPr/>
          <p:nvPr/>
        </p:nvSpPr>
        <p:spPr>
          <a:xfrm>
            <a:off x="6160000" y="4100000"/>
            <a:ext cx="2550000" cy="17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14300" tIns="76200" rIns="114300" bIns="76200" anchor="ctr"/>
          <a:lstStyle/>
          <a:p>
            <a:pPr algn="l">
              <a:spcAft>
                <a:spcPts val="800"/>
              </a:spcAft>
            </a:pPr>
            <a:r>
              <a:rPr lang="pt-BR" sz="1000" b="1" dirty="0">
                <a:solidFill>
                  <a:srgbClr val="38BDF8"/>
                </a:solidFill>
                <a:latin typeface="Calibri"/>
                <a:cs typeface="Calibri"/>
              </a:rPr>
              <a:t>CONCILIAÇÃO CONTÁBIL</a:t>
            </a:r>
          </a:p>
          <a:p>
            <a:pPr algn="l">
              <a:spcAft>
                <a:spcPts val="600"/>
              </a:spcAft>
            </a:pPr>
            <a:r>
              <a:rPr lang="pt-BR" sz="2200" b="1" dirty="0">
                <a:solidFill>
                  <a:srgbClr val="FFFFFF"/>
                </a:solidFill>
                <a:latin typeface="Calibri"/>
                <a:cs typeface="Calibri"/>
              </a:rPr>
              <a:t>R$ 0,00</a:t>
            </a:r>
          </a:p>
          <a:p>
            <a:pPr algn="l"/>
            <a:r>
              <a:rPr lang="pt-BR" sz="1100" dirty="0">
                <a:solidFill>
                  <a:srgbClr val="94A3B8"/>
                </a:solidFill>
                <a:latin typeface="Calibri"/>
                <a:cs typeface="Calibri"/>
              </a:rPr>
              <a:t>Diferença Fatura vs. Rateio</a:t>
            </a:r>
          </a:p>
        </p:txBody>
      </p:sp>
      <p:sp>
        <p:nvSpPr>
          <p:cNvPr id="13" name="CoverKpi_3"/>
          <p:cNvSpPr/>
          <p:nvPr/>
        </p:nvSpPr>
        <p:spPr>
          <a:xfrm>
            <a:off x="8890000" y="4100000"/>
            <a:ext cx="2550000" cy="17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114300" tIns="76200" rIns="114300" bIns="76200" anchor="ctr"/>
          <a:lstStyle/>
          <a:p>
            <a:pPr algn="l">
              <a:spcAft>
                <a:spcPts val="800"/>
              </a:spcAft>
            </a:pPr>
            <a:r>
              <a:rPr lang="pt-BR" sz="1000" b="1" dirty="0">
                <a:solidFill>
                  <a:srgbClr val="38BDF8"/>
                </a:solidFill>
                <a:latin typeface="Calibri"/>
                <a:cs typeface="Calibri"/>
              </a:rPr>
              <a:t>GANHO DE PRODUTIVIDADE</a:t>
            </a:r>
          </a:p>
          <a:p>
            <a:pPr algn="l">
              <a:spcAft>
                <a:spcPts val="600"/>
              </a:spcAft>
            </a:pPr>
            <a:r>
              <a:rPr lang="pt-BR" sz="2200" b="1" dirty="0">
                <a:solidFill>
                  <a:srgbClr val="FFFFFF"/>
                </a:solidFill>
                <a:latin typeface="Calibri"/>
                <a:cs typeface="Calibri"/>
              </a:rPr>
              <a:t>-90% Tempo</a:t>
            </a:r>
          </a:p>
          <a:p>
            <a:pPr algn="l"/>
            <a:r>
              <a:rPr lang="pt-BR" sz="1100" dirty="0">
                <a:solidFill>
                  <a:srgbClr val="94A3B8"/>
                </a:solidFill>
                <a:latin typeface="Calibri"/>
                <a:cs typeface="Calibri"/>
              </a:rPr>
              <a:t>De 5 dias para &lt; 2 horas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9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450000" tIns="76200" rIns="114300" bIns="76200" anchor="ctr"/>
          <a:lstStyle/>
          <a:p>
            <a:pPr algn="l">
              <a:spcAft>
                <a:spcPts val="200"/>
              </a:spcAft>
            </a:pPr>
            <a:r>
              <a:rPr lang="pt-BR" sz="1000" b="1" dirty="0">
                <a:solidFill>
                  <a:srgbClr val="38BDF8"/>
                </a:solidFill>
                <a:latin typeface="Calibri"/>
                <a:cs typeface="Calibri"/>
              </a:rPr>
              <a:t>◆ SHOPRATEIO  |  VISÃO DA DIRETORIA</a:t>
            </a:r>
          </a:p>
          <a:p>
            <a:pPr algn="l"/>
            <a:r>
              <a:rPr lang="pt-BR" sz="2000" b="1" dirty="0">
                <a:solidFill>
                  <a:srgbClr val="FFFFFF"/>
                </a:solidFill>
                <a:latin typeface="Calibri"/>
                <a:cs typeface="Calibri"/>
              </a:rPr>
              <a:t>1. Dashboard Executivo — Visão Consolidada de Água</a:t>
            </a:r>
          </a:p>
        </p:txBody>
      </p:sp>
      <p:sp>
        <p:nvSpPr>
          <p:cNvPr id="3" name="SubtitleBar"/>
          <p:cNvSpPr/>
          <p:nvPr/>
        </p:nvSpPr>
        <p:spPr>
          <a:xfrm>
            <a:off x="450000" y="1000000"/>
            <a:ext cx="11292000" cy="42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txBody>
          <a:bodyPr wrap="square" lIns="114300" tIns="76200" rIns="114300" bIns="76200" anchor="ctr"/>
          <a:lstStyle/>
          <a:p>
            <a:pPr algn="l"/>
            <a:r>
              <a:rPr lang="pt-BR" sz="1200" dirty="0">
                <a:solidFill>
                  <a:srgbClr val="1E3A8A"/>
                </a:solidFill>
                <a:latin typeface="Calibri"/>
                <a:cs typeface="Calibri"/>
              </a:rPr>
              <a:t>Monitoramento anual e mensal dos custos, consumo em m³ e ranking das lojas de maior impacto no shopping.</a:t>
            </a:r>
          </a:p>
        </p:txBody>
      </p:sp>
      <p:sp>
        <p:nvSpPr>
          <p:cNvPr id="4" name="ImageFrameBg"/>
          <p:cNvSpPr/>
          <p:nvPr/>
        </p:nvSpPr>
        <p:spPr>
          <a:xfrm>
            <a:off x="450000" y="1520000"/>
            <a:ext cx="6800000" cy="4250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t"/>
          <a:lstStyle/>
          <a:p>
            <a:pPr algn="l"/>
            <a:endParaRPr lang="pt-BR" sz="1400"/>
          </a:p>
        </p:txBody>
      </p:sp>
      <p:pic>
        <p:nvPicPr>
          <p:cNvPr id="5" name="Screenshot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578000" y="1600000"/>
            <a:ext cx="6544000" cy="4090000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sp>
        <p:nvSpPr>
          <p:cNvPr id="6" name="FeatureCard_1"/>
          <p:cNvSpPr/>
          <p:nvPr/>
        </p:nvSpPr>
        <p:spPr>
          <a:xfrm>
            <a:off x="7420000" y="1520000"/>
            <a:ext cx="4322000" cy="99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ctr"/>
          <a:lstStyle/>
          <a:p>
            <a:pPr algn="l">
              <a:spcAft>
                <a:spcPts val="300"/>
              </a:spcAft>
            </a:pPr>
            <a:r>
              <a:rPr lang="pt-BR" sz="1300" b="1" dirty="0">
                <a:solidFill>
                  <a:srgbClr val="0284C7"/>
                </a:solidFill>
                <a:latin typeface="Calibri"/>
                <a:cs typeface="Calibri"/>
              </a:rPr>
              <a:t>📊 Balanço Anual em Tempo Real</a:t>
            </a:r>
          </a:p>
          <a:p>
            <a:pPr algn="l"/>
            <a:r>
              <a:rPr lang="pt-BR" sz="1100" dirty="0">
                <a:solidFill>
                  <a:srgbClr val="334155"/>
                </a:solidFill>
                <a:latin typeface="Calibri"/>
                <a:cs typeface="Calibri"/>
              </a:rPr>
              <a:t>Consolida R$ 564.013 acumulados no ano, 36.033 m³ consumidos e média mensal de R$ 94.002.</a:t>
            </a:r>
          </a:p>
        </p:txBody>
      </p:sp>
      <p:sp>
        <p:nvSpPr>
          <p:cNvPr id="7" name="FeatureCard_2"/>
          <p:cNvSpPr/>
          <p:nvPr/>
        </p:nvSpPr>
        <p:spPr>
          <a:xfrm>
            <a:off x="7420000" y="2605000"/>
            <a:ext cx="4322000" cy="99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ctr"/>
          <a:lstStyle/>
          <a:p>
            <a:pPr algn="l">
              <a:spcAft>
                <a:spcPts val="300"/>
              </a:spcAft>
            </a:pPr>
            <a:r>
              <a:rPr lang="pt-BR" sz="1300" b="1" dirty="0">
                <a:solidFill>
                  <a:srgbClr val="0284C7"/>
                </a:solidFill>
                <a:latin typeface="Calibri"/>
                <a:cs typeface="Calibri"/>
              </a:rPr>
              <a:t>📈 Curva de Evolução Mensal</a:t>
            </a:r>
          </a:p>
          <a:p>
            <a:pPr algn="l"/>
            <a:r>
              <a:rPr lang="pt-BR" sz="1100" dirty="0">
                <a:solidFill>
                  <a:srgbClr val="334155"/>
                </a:solidFill>
                <a:latin typeface="Calibri"/>
                <a:cs typeface="Calibri"/>
              </a:rPr>
              <a:t>Exibe a trajetória de custos mês a mês (Jun: 137,4k até Out: 90,7k), facilitando análise de sazonalidade.</a:t>
            </a:r>
          </a:p>
        </p:txBody>
      </p:sp>
      <p:sp>
        <p:nvSpPr>
          <p:cNvPr id="8" name="FeatureCard_3"/>
          <p:cNvSpPr/>
          <p:nvPr/>
        </p:nvSpPr>
        <p:spPr>
          <a:xfrm>
            <a:off x="7420000" y="3690000"/>
            <a:ext cx="4322000" cy="99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ctr"/>
          <a:lstStyle/>
          <a:p>
            <a:pPr algn="l">
              <a:spcAft>
                <a:spcPts val="300"/>
              </a:spcAft>
            </a:pPr>
            <a:r>
              <a:rPr lang="pt-BR" sz="1300" b="1" dirty="0">
                <a:solidFill>
                  <a:srgbClr val="0284C7"/>
                </a:solidFill>
                <a:latin typeface="Calibri"/>
                <a:cs typeface="Calibri"/>
              </a:rPr>
              <a:t>🏆 Ranking de Maiores Consumidores</a:t>
            </a:r>
          </a:p>
          <a:p>
            <a:pPr algn="l"/>
            <a:r>
              <a:rPr lang="pt-BR" sz="1100" dirty="0">
                <a:solidFill>
                  <a:srgbClr val="334155"/>
                </a:solidFill>
                <a:latin typeface="Calibri"/>
                <a:cs typeface="Calibri"/>
              </a:rPr>
              <a:t>Destaca restaurantes e âncoras (BAH, Outback, Cinemark, Academia Ultra) para gestão preventiva.</a:t>
            </a:r>
          </a:p>
        </p:txBody>
      </p:sp>
      <p:sp>
        <p:nvSpPr>
          <p:cNvPr id="9" name="FeatureCard_4"/>
          <p:cNvSpPr/>
          <p:nvPr/>
        </p:nvSpPr>
        <p:spPr>
          <a:xfrm>
            <a:off x="7420000" y="4775000"/>
            <a:ext cx="4322000" cy="99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ctr"/>
          <a:lstStyle/>
          <a:p>
            <a:pPr algn="l">
              <a:spcAft>
                <a:spcPts val="300"/>
              </a:spcAft>
            </a:pPr>
            <a:r>
              <a:rPr lang="pt-BR" sz="1300" b="1" dirty="0">
                <a:solidFill>
                  <a:srgbClr val="0284C7"/>
                </a:solidFill>
                <a:latin typeface="Calibri"/>
                <a:cs typeface="Calibri"/>
              </a:rPr>
              <a:t>💧 Arquitetura Multi-Utilidades</a:t>
            </a:r>
          </a:p>
          <a:p>
            <a:pPr algn="l"/>
            <a:r>
              <a:rPr lang="pt-BR" sz="1100" dirty="0">
                <a:solidFill>
                  <a:srgbClr val="334155"/>
                </a:solidFill>
                <a:latin typeface="Calibri"/>
                <a:cs typeface="Calibri"/>
              </a:rPr>
              <a:t>Mesmo padrão visual pronto para Água, Energia Elétrica e Gás em um único painel.</a:t>
            </a:r>
          </a:p>
        </p:txBody>
      </p:sp>
      <p:sp>
        <p:nvSpPr>
          <p:cNvPr id="10" name="TakeawayBar"/>
          <p:cNvSpPr/>
          <p:nvPr/>
        </p:nvSpPr>
        <p:spPr>
          <a:xfrm>
            <a:off x="450000" y="5900000"/>
            <a:ext cx="11292000" cy="520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txBody>
          <a:bodyPr wrap="square" lIns="114300" tIns="76200" rIns="114300" bIns="76200" anchor="ctr"/>
          <a:lstStyle/>
          <a:p>
            <a:pPr algn="l"/>
            <a:r>
              <a:rPr lang="pt-BR" sz="1200" b="1" dirty="0">
                <a:solidFill>
                  <a:srgbClr val="065F46"/>
                </a:solidFill>
                <a:latin typeface="Calibri"/>
                <a:cs typeface="Calibri"/>
              </a:rPr>
              <a:t>💡 Ganho para a Diretoria: </a:t>
            </a:r>
            <a:r>
              <a:rPr lang="pt-BR" sz="1150" dirty="0">
                <a:solidFill>
                  <a:srgbClr val="064E3B"/>
                </a:solidFill>
                <a:latin typeface="Calibri"/>
                <a:cs typeface="Calibri"/>
              </a:rPr>
              <a:t>Visibilidade executiva imediata sobre para onde vai o recurso hídrico do shopping, sem depender de relatórios manuais.</a:t>
            </a:r>
          </a:p>
        </p:txBody>
      </p:sp>
      <p:sp>
        <p:nvSpPr>
          <p:cNvPr id="11" name="FooterText"/>
          <p:cNvSpPr/>
          <p:nvPr/>
        </p:nvSpPr>
        <p:spPr>
          <a:xfrm>
            <a:off x="450000" y="6480000"/>
            <a:ext cx="1129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76200" rIns="0" bIns="76200" anchor="ctr"/>
          <a:lstStyle/>
          <a:p>
            <a:pPr algn="r"/>
            <a:r>
              <a:rPr lang="pt-BR" sz="950" b="1" dirty="0">
                <a:solidFill>
                  <a:srgbClr val="64748B"/>
                </a:solidFill>
                <a:latin typeface="Calibri"/>
                <a:cs typeface="Calibri"/>
              </a:rPr>
              <a:t>Apresentação Executiva à Diretoria • Base Real Homologada: Água (Outubro/2026)   |   Slide 2 de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9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450000" tIns="76200" rIns="114300" bIns="76200" anchor="ctr"/>
          <a:lstStyle/>
          <a:p>
            <a:pPr algn="l">
              <a:spcAft>
                <a:spcPts val="200"/>
              </a:spcAft>
            </a:pPr>
            <a:r>
              <a:rPr lang="pt-BR" sz="1000" b="1" dirty="0">
                <a:solidFill>
                  <a:srgbClr val="38BDF8"/>
                </a:solidFill>
                <a:latin typeface="Calibri"/>
                <a:cs typeface="Calibri"/>
              </a:rPr>
              <a:t>◆ SHOPRATEIO  |  OPERAÇÃO DE CAMPO</a:t>
            </a:r>
          </a:p>
          <a:p>
            <a:pPr algn="l"/>
            <a:r>
              <a:rPr lang="pt-BR" sz="2000" b="1" dirty="0">
                <a:solidFill>
                  <a:srgbClr val="FFFFFF"/>
                </a:solidFill>
                <a:latin typeface="Calibri"/>
                <a:cs typeface="Calibri"/>
              </a:rPr>
              <a:t>2. Coleta Mobile pelo Celular — Mesmo Sem Internet</a:t>
            </a:r>
          </a:p>
        </p:txBody>
      </p:sp>
      <p:sp>
        <p:nvSpPr>
          <p:cNvPr id="3" name="SubtitleBar"/>
          <p:cNvSpPr/>
          <p:nvPr/>
        </p:nvSpPr>
        <p:spPr>
          <a:xfrm>
            <a:off x="450000" y="1000000"/>
            <a:ext cx="11292000" cy="42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txBody>
          <a:bodyPr wrap="square" lIns="114300" tIns="76200" rIns="114300" bIns="76200" anchor="ctr"/>
          <a:lstStyle/>
          <a:p>
            <a:pPr algn="l"/>
            <a:r>
              <a:rPr lang="pt-BR" sz="1200" dirty="0">
                <a:solidFill>
                  <a:srgbClr val="1E3A8A"/>
                </a:solidFill>
                <a:latin typeface="Calibri"/>
                <a:cs typeface="Calibri"/>
              </a:rPr>
              <a:t>Substituição definitiva da prancheta de papel por aplicativo no celular do técnico com rota guiada e modo offline.</a:t>
            </a:r>
          </a:p>
        </p:txBody>
      </p:sp>
      <p:sp>
        <p:nvSpPr>
          <p:cNvPr id="4" name="ImageFrameBg"/>
          <p:cNvSpPr/>
          <p:nvPr/>
        </p:nvSpPr>
        <p:spPr>
          <a:xfrm>
            <a:off x="450000" y="1520000"/>
            <a:ext cx="6800000" cy="4250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t"/>
          <a:lstStyle/>
          <a:p>
            <a:pPr algn="l"/>
            <a:endParaRPr lang="pt-BR" sz="1400"/>
          </a:p>
        </p:txBody>
      </p:sp>
      <p:pic>
        <p:nvPicPr>
          <p:cNvPr id="5" name="Screenshot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2905449" y="1600000"/>
            <a:ext cx="1889103" cy="4090000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sp>
        <p:nvSpPr>
          <p:cNvPr id="6" name="FeatureCard_1"/>
          <p:cNvSpPr/>
          <p:nvPr/>
        </p:nvSpPr>
        <p:spPr>
          <a:xfrm>
            <a:off x="7420000" y="1520000"/>
            <a:ext cx="4322000" cy="99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ctr"/>
          <a:lstStyle/>
          <a:p>
            <a:pPr algn="l">
              <a:spcAft>
                <a:spcPts val="300"/>
              </a:spcAft>
            </a:pPr>
            <a:r>
              <a:rPr lang="pt-BR" sz="1300" b="1" dirty="0">
                <a:solidFill>
                  <a:srgbClr val="0284C7"/>
                </a:solidFill>
                <a:latin typeface="Calibri"/>
                <a:cs typeface="Calibri"/>
              </a:rPr>
              <a:t>📶 Funciona 100% Offline nos Subsolos</a:t>
            </a:r>
          </a:p>
          <a:p>
            <a:pPr algn="l"/>
            <a:r>
              <a:rPr lang="pt-BR" sz="1100" dirty="0">
                <a:solidFill>
                  <a:srgbClr val="334155"/>
                </a:solidFill>
                <a:latin typeface="Calibri"/>
                <a:cs typeface="Calibri"/>
              </a:rPr>
              <a:t>Salva leituras e fotos no celular em casas de máquinas sem sinal e sincroniza ao reconectar.</a:t>
            </a:r>
          </a:p>
        </p:txBody>
      </p:sp>
      <p:sp>
        <p:nvSpPr>
          <p:cNvPr id="7" name="FeatureCard_2"/>
          <p:cNvSpPr/>
          <p:nvPr/>
        </p:nvSpPr>
        <p:spPr>
          <a:xfrm>
            <a:off x="7420000" y="2605000"/>
            <a:ext cx="4322000" cy="99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ctr"/>
          <a:lstStyle/>
          <a:p>
            <a:pPr algn="l">
              <a:spcAft>
                <a:spcPts val="300"/>
              </a:spcAft>
            </a:pPr>
            <a:r>
              <a:rPr lang="pt-BR" sz="1300" b="1" dirty="0">
                <a:solidFill>
                  <a:srgbClr val="0284C7"/>
                </a:solidFill>
                <a:latin typeface="Calibri"/>
                <a:cs typeface="Calibri"/>
              </a:rPr>
              <a:t>🚶 Rota Guiada pelos Corredores</a:t>
            </a:r>
          </a:p>
          <a:p>
            <a:pPr algn="l"/>
            <a:r>
              <a:rPr lang="pt-BR" sz="1100" dirty="0">
                <a:solidFill>
                  <a:srgbClr val="334155"/>
                </a:solidFill>
                <a:latin typeface="Calibri"/>
                <a:cs typeface="Calibri"/>
              </a:rPr>
              <a:t>Ordena os 64 hidrômetros na sequência física de caminhada, reduzindo o tempo de coleta em 40%.</a:t>
            </a:r>
          </a:p>
        </p:txBody>
      </p:sp>
      <p:sp>
        <p:nvSpPr>
          <p:cNvPr id="8" name="FeatureCard_3"/>
          <p:cNvSpPr/>
          <p:nvPr/>
        </p:nvSpPr>
        <p:spPr>
          <a:xfrm>
            <a:off x="7420000" y="3690000"/>
            <a:ext cx="4322000" cy="99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ctr"/>
          <a:lstStyle/>
          <a:p>
            <a:pPr algn="l">
              <a:spcAft>
                <a:spcPts val="300"/>
              </a:spcAft>
            </a:pPr>
            <a:r>
              <a:rPr lang="pt-BR" sz="1300" b="1" dirty="0">
                <a:solidFill>
                  <a:srgbClr val="0284C7"/>
                </a:solidFill>
                <a:latin typeface="Calibri"/>
                <a:cs typeface="Calibri"/>
              </a:rPr>
              <a:t>⚡ Conferência na Frente do Relógio</a:t>
            </a:r>
          </a:p>
          <a:p>
            <a:pPr algn="l"/>
            <a:r>
              <a:rPr lang="pt-BR" sz="1100" dirty="0">
                <a:solidFill>
                  <a:srgbClr val="334155"/>
                </a:solidFill>
                <a:latin typeface="Calibri"/>
                <a:cs typeface="Calibri"/>
              </a:rPr>
              <a:t>Ao digitar a leitura (Panvel: 900 → 904 m³), já exibe o consumo (+4 m³) e o custo (R$ 59,65) na hora.</a:t>
            </a:r>
          </a:p>
        </p:txBody>
      </p:sp>
      <p:sp>
        <p:nvSpPr>
          <p:cNvPr id="9" name="FeatureCard_4"/>
          <p:cNvSpPr/>
          <p:nvPr/>
        </p:nvSpPr>
        <p:spPr>
          <a:xfrm>
            <a:off x="7420000" y="4775000"/>
            <a:ext cx="4322000" cy="99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ctr"/>
          <a:lstStyle/>
          <a:p>
            <a:pPr algn="l">
              <a:spcAft>
                <a:spcPts val="300"/>
              </a:spcAft>
            </a:pPr>
            <a:r>
              <a:rPr lang="pt-BR" sz="1300" b="1" dirty="0">
                <a:solidFill>
                  <a:srgbClr val="0284C7"/>
                </a:solidFill>
                <a:latin typeface="Calibri"/>
                <a:cs typeface="Calibri"/>
              </a:rPr>
              <a:t>📷 Foto Obrigatória &amp; Leitura por IA</a:t>
            </a:r>
          </a:p>
          <a:p>
            <a:pPr algn="l"/>
            <a:r>
              <a:rPr lang="pt-BR" sz="1100" dirty="0">
                <a:solidFill>
                  <a:srgbClr val="334155"/>
                </a:solidFill>
                <a:latin typeface="Calibri"/>
                <a:cs typeface="Calibri"/>
              </a:rPr>
              <a:t>Registra foto datada do mostrador e lê os dígitos por Inteligência Artificial, evitando erros humanos.</a:t>
            </a:r>
          </a:p>
        </p:txBody>
      </p:sp>
      <p:sp>
        <p:nvSpPr>
          <p:cNvPr id="10" name="TakeawayBar"/>
          <p:cNvSpPr/>
          <p:nvPr/>
        </p:nvSpPr>
        <p:spPr>
          <a:xfrm>
            <a:off x="450000" y="5900000"/>
            <a:ext cx="11292000" cy="520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txBody>
          <a:bodyPr wrap="square" lIns="114300" tIns="76200" rIns="114300" bIns="76200" anchor="ctr"/>
          <a:lstStyle/>
          <a:p>
            <a:pPr algn="l"/>
            <a:r>
              <a:rPr lang="pt-BR" sz="1200" b="1" dirty="0">
                <a:solidFill>
                  <a:srgbClr val="065F46"/>
                </a:solidFill>
                <a:latin typeface="Calibri"/>
                <a:cs typeface="Calibri"/>
              </a:rPr>
              <a:t>💡 Ganho Operacional: </a:t>
            </a:r>
            <a:r>
              <a:rPr lang="pt-BR" sz="1150" dirty="0">
                <a:solidFill>
                  <a:srgbClr val="064E3B"/>
                </a:solidFill>
                <a:latin typeface="Calibri"/>
                <a:cs typeface="Calibri"/>
              </a:rPr>
              <a:t>Elimina 100% do retrabalho de passar anotações do papel para o computador e impede erros de digitação na origem.</a:t>
            </a:r>
          </a:p>
        </p:txBody>
      </p:sp>
      <p:sp>
        <p:nvSpPr>
          <p:cNvPr id="11" name="FooterText"/>
          <p:cNvSpPr/>
          <p:nvPr/>
        </p:nvSpPr>
        <p:spPr>
          <a:xfrm>
            <a:off x="450000" y="6480000"/>
            <a:ext cx="1129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76200" rIns="0" bIns="76200" anchor="ctr"/>
          <a:lstStyle/>
          <a:p>
            <a:pPr algn="r"/>
            <a:r>
              <a:rPr lang="pt-BR" sz="950" b="1" dirty="0">
                <a:solidFill>
                  <a:srgbClr val="64748B"/>
                </a:solidFill>
                <a:latin typeface="Calibri"/>
                <a:cs typeface="Calibri"/>
              </a:rPr>
              <a:t>Apresentação Executiva à Diretoria • Base Real Homologada: Água (Outubro/2026)   |   Slide 3 de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9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450000" tIns="76200" rIns="114300" bIns="76200" anchor="ctr"/>
          <a:lstStyle/>
          <a:p>
            <a:pPr algn="l">
              <a:spcAft>
                <a:spcPts val="200"/>
              </a:spcAft>
            </a:pPr>
            <a:r>
              <a:rPr lang="pt-BR" sz="1000" b="1" dirty="0">
                <a:solidFill>
                  <a:srgbClr val="38BDF8"/>
                </a:solidFill>
                <a:latin typeface="Calibri"/>
                <a:cs typeface="Calibri"/>
              </a:rPr>
              <a:t>◆ SHOPRATEIO  |  NÚCLEO CONTÁBIL</a:t>
            </a:r>
          </a:p>
          <a:p>
            <a:pPr algn="l"/>
            <a:r>
              <a:rPr lang="pt-BR" sz="2000" b="1" dirty="0">
                <a:solidFill>
                  <a:srgbClr val="FFFFFF"/>
                </a:solidFill>
                <a:latin typeface="Calibri"/>
                <a:cs typeface="Calibri"/>
              </a:rPr>
              <a:t>3. Calculadora de Rateio — Precisão Centavo a Centavo</a:t>
            </a:r>
          </a:p>
        </p:txBody>
      </p:sp>
      <p:sp>
        <p:nvSpPr>
          <p:cNvPr id="3" name="SubtitleBar"/>
          <p:cNvSpPr/>
          <p:nvPr/>
        </p:nvSpPr>
        <p:spPr>
          <a:xfrm>
            <a:off x="450000" y="1000000"/>
            <a:ext cx="11292000" cy="42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txBody>
          <a:bodyPr wrap="square" lIns="114300" tIns="76200" rIns="114300" bIns="76200" anchor="ctr"/>
          <a:lstStyle/>
          <a:p>
            <a:pPr algn="l"/>
            <a:r>
              <a:rPr lang="pt-BR" sz="1200" dirty="0">
                <a:solidFill>
                  <a:srgbClr val="1E3A8A"/>
                </a:solidFill>
                <a:latin typeface="Calibri"/>
                <a:cs typeface="Calibri"/>
              </a:rPr>
              <a:t>Cálculo automático da tarifa proporcional de Água, rateio de áreas comuns e exportação pronta para o SAP.</a:t>
            </a:r>
          </a:p>
        </p:txBody>
      </p:sp>
      <p:sp>
        <p:nvSpPr>
          <p:cNvPr id="4" name="ImageFrameBg"/>
          <p:cNvSpPr/>
          <p:nvPr/>
        </p:nvSpPr>
        <p:spPr>
          <a:xfrm>
            <a:off x="450000" y="1520000"/>
            <a:ext cx="6800000" cy="4250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t"/>
          <a:lstStyle/>
          <a:p>
            <a:pPr algn="l"/>
            <a:endParaRPr lang="pt-BR" sz="1400"/>
          </a:p>
        </p:txBody>
      </p:sp>
      <p:pic>
        <p:nvPicPr>
          <p:cNvPr id="5" name="Screenshot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578000" y="1600000"/>
            <a:ext cx="6544000" cy="4090000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sp>
        <p:nvSpPr>
          <p:cNvPr id="6" name="FeatureCard_1"/>
          <p:cNvSpPr/>
          <p:nvPr/>
        </p:nvSpPr>
        <p:spPr>
          <a:xfrm>
            <a:off x="7420000" y="1520000"/>
            <a:ext cx="4322000" cy="99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ctr"/>
          <a:lstStyle/>
          <a:p>
            <a:pPr algn="l">
              <a:spcAft>
                <a:spcPts val="300"/>
              </a:spcAft>
            </a:pPr>
            <a:r>
              <a:rPr lang="pt-BR" sz="1300" b="1" dirty="0">
                <a:solidFill>
                  <a:srgbClr val="0284C7"/>
                </a:solidFill>
                <a:latin typeface="Calibri"/>
                <a:cs typeface="Calibri"/>
              </a:rPr>
              <a:t>🧾 Composição Transparente da Fatura</a:t>
            </a:r>
          </a:p>
          <a:p>
            <a:pPr algn="l"/>
            <a:r>
              <a:rPr lang="pt-BR" sz="1100" dirty="0">
                <a:solidFill>
                  <a:srgbClr val="334155"/>
                </a:solidFill>
                <a:latin typeface="Calibri"/>
                <a:cs typeface="Calibri"/>
              </a:rPr>
              <a:t>Soma Valor da Conta (R$ 88.836,31) + Enviro Tools (R$ 1.843,46) = Subtotal R$ 90.679,77 para 6.081 m³.</a:t>
            </a:r>
          </a:p>
        </p:txBody>
      </p:sp>
      <p:sp>
        <p:nvSpPr>
          <p:cNvPr id="7" name="FeatureCard_2"/>
          <p:cNvSpPr/>
          <p:nvPr/>
        </p:nvSpPr>
        <p:spPr>
          <a:xfrm>
            <a:off x="7420000" y="2605000"/>
            <a:ext cx="4322000" cy="99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ctr"/>
          <a:lstStyle/>
          <a:p>
            <a:pPr algn="l">
              <a:spcAft>
                <a:spcPts val="300"/>
              </a:spcAft>
            </a:pPr>
            <a:r>
              <a:rPr lang="pt-BR" sz="1300" b="1" dirty="0">
                <a:solidFill>
                  <a:srgbClr val="0284C7"/>
                </a:solidFill>
                <a:latin typeface="Calibri"/>
                <a:cs typeface="Calibri"/>
              </a:rPr>
              <a:t>⚖️ Tarifa Proporcional Automática</a:t>
            </a:r>
          </a:p>
          <a:p>
            <a:pPr algn="l"/>
            <a:r>
              <a:rPr lang="pt-BR" sz="1100" dirty="0">
                <a:solidFill>
                  <a:srgbClr val="334155"/>
                </a:solidFill>
                <a:latin typeface="Calibri"/>
                <a:cs typeface="Calibri"/>
              </a:rPr>
              <a:t>Calcula a tarifa exata (R$ 14,9120/m³) e distribui Lojas, Ar Condicionado e Área Comum sem fórmulas quebradas.</a:t>
            </a:r>
          </a:p>
        </p:txBody>
      </p:sp>
      <p:sp>
        <p:nvSpPr>
          <p:cNvPr id="8" name="FeatureCard_3"/>
          <p:cNvSpPr/>
          <p:nvPr/>
        </p:nvSpPr>
        <p:spPr>
          <a:xfrm>
            <a:off x="7420000" y="3690000"/>
            <a:ext cx="4322000" cy="99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ctr"/>
          <a:lstStyle/>
          <a:p>
            <a:pPr algn="l">
              <a:spcAft>
                <a:spcPts val="300"/>
              </a:spcAft>
            </a:pPr>
            <a:r>
              <a:rPr lang="pt-BR" sz="1300" b="1" dirty="0">
                <a:solidFill>
                  <a:srgbClr val="0284C7"/>
                </a:solidFill>
                <a:latin typeface="Calibri"/>
                <a:cs typeface="Calibri"/>
              </a:rPr>
              <a:t>🚨 Alerta Automático de Variação (VAR %)</a:t>
            </a:r>
          </a:p>
          <a:p>
            <a:pPr algn="l"/>
            <a:r>
              <a:rPr lang="pt-BR" sz="1100" dirty="0">
                <a:solidFill>
                  <a:srgbClr val="334155"/>
                </a:solidFill>
                <a:latin typeface="Calibri"/>
                <a:cs typeface="Calibri"/>
              </a:rPr>
              <a:t>Sinaliza desvios bruscos em relação ao mês anterior (ex: Panvel -33,3%), apontando vazamentos.</a:t>
            </a:r>
          </a:p>
        </p:txBody>
      </p:sp>
      <p:sp>
        <p:nvSpPr>
          <p:cNvPr id="9" name="FeatureCard_4"/>
          <p:cNvSpPr/>
          <p:nvPr/>
        </p:nvSpPr>
        <p:spPr>
          <a:xfrm>
            <a:off x="7420000" y="4775000"/>
            <a:ext cx="4322000" cy="99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ctr"/>
          <a:lstStyle/>
          <a:p>
            <a:pPr algn="l">
              <a:spcAft>
                <a:spcPts val="300"/>
              </a:spcAft>
            </a:pPr>
            <a:r>
              <a:rPr lang="pt-BR" sz="1300" b="1" dirty="0">
                <a:solidFill>
                  <a:srgbClr val="0284C7"/>
                </a:solidFill>
                <a:latin typeface="Calibri"/>
                <a:cs typeface="Calibri"/>
              </a:rPr>
              <a:t>📥 Exportação Excel (SAP) + Pacote ZIP</a:t>
            </a:r>
          </a:p>
          <a:p>
            <a:pPr algn="l"/>
            <a:r>
              <a:rPr lang="pt-BR" sz="1100" dirty="0">
                <a:solidFill>
                  <a:srgbClr val="334155"/>
                </a:solidFill>
                <a:latin typeface="Calibri"/>
                <a:cs typeface="Calibri"/>
              </a:rPr>
              <a:t>Gera em 1 clique a planilha contábil fechada e um arquivo ZIP com todas as fotos nomeadas por loja.</a:t>
            </a:r>
          </a:p>
        </p:txBody>
      </p:sp>
      <p:sp>
        <p:nvSpPr>
          <p:cNvPr id="10" name="TakeawayBar"/>
          <p:cNvSpPr/>
          <p:nvPr/>
        </p:nvSpPr>
        <p:spPr>
          <a:xfrm>
            <a:off x="450000" y="5900000"/>
            <a:ext cx="11292000" cy="520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txBody>
          <a:bodyPr wrap="square" lIns="114300" tIns="76200" rIns="114300" bIns="76200" anchor="ctr"/>
          <a:lstStyle/>
          <a:p>
            <a:pPr algn="l"/>
            <a:r>
              <a:rPr lang="pt-BR" sz="1200" b="1" dirty="0">
                <a:solidFill>
                  <a:srgbClr val="065F46"/>
                </a:solidFill>
                <a:latin typeface="Calibri"/>
                <a:cs typeface="Calibri"/>
              </a:rPr>
              <a:t>💡 Ganho Financeiro: </a:t>
            </a:r>
            <a:r>
              <a:rPr lang="pt-BR" sz="1150" dirty="0">
                <a:solidFill>
                  <a:srgbClr val="064E3B"/>
                </a:solidFill>
                <a:latin typeface="Calibri"/>
                <a:cs typeface="Calibri"/>
              </a:rPr>
              <a:t>O fechamento que antes levava de 3 a 5 dias úteis conferindo planilhas passa a ser concluído em menos de 2 horas.</a:t>
            </a:r>
          </a:p>
        </p:txBody>
      </p:sp>
      <p:sp>
        <p:nvSpPr>
          <p:cNvPr id="11" name="FooterText"/>
          <p:cNvSpPr/>
          <p:nvPr/>
        </p:nvSpPr>
        <p:spPr>
          <a:xfrm>
            <a:off x="450000" y="6480000"/>
            <a:ext cx="1129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76200" rIns="0" bIns="76200" anchor="ctr"/>
          <a:lstStyle/>
          <a:p>
            <a:pPr algn="r"/>
            <a:r>
              <a:rPr lang="pt-BR" sz="950" b="1" dirty="0">
                <a:solidFill>
                  <a:srgbClr val="64748B"/>
                </a:solidFill>
                <a:latin typeface="Calibri"/>
                <a:cs typeface="Calibri"/>
              </a:rPr>
              <a:t>Apresentação Executiva à Diretoria • Base Real Homologada: Água (Outubro/2026)   |   Slide 4 de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9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450000" tIns="76200" rIns="114300" bIns="76200" anchor="ctr"/>
          <a:lstStyle/>
          <a:p>
            <a:pPr algn="l">
              <a:spcAft>
                <a:spcPts val="200"/>
              </a:spcAft>
            </a:pPr>
            <a:r>
              <a:rPr lang="pt-BR" sz="1000" b="1" dirty="0">
                <a:solidFill>
                  <a:srgbClr val="38BDF8"/>
                </a:solidFill>
                <a:latin typeface="Calibri"/>
                <a:cs typeface="Calibri"/>
              </a:rPr>
              <a:t>◆ SHOPRATEIO  |  BLINDAGEM CONTÁBIL</a:t>
            </a:r>
          </a:p>
          <a:p>
            <a:pPr algn="l"/>
            <a:r>
              <a:rPr lang="pt-BR" sz="2000" b="1" dirty="0">
                <a:solidFill>
                  <a:srgbClr val="FFFFFF"/>
                </a:solidFill>
                <a:latin typeface="Calibri"/>
                <a:cs typeface="Calibri"/>
              </a:rPr>
              <a:t>4. Trava dos 5 Pilares — Fechamento com Diferença Zero</a:t>
            </a:r>
          </a:p>
        </p:txBody>
      </p:sp>
      <p:sp>
        <p:nvSpPr>
          <p:cNvPr id="3" name="SubtitleBar"/>
          <p:cNvSpPr/>
          <p:nvPr/>
        </p:nvSpPr>
        <p:spPr>
          <a:xfrm>
            <a:off x="450000" y="1000000"/>
            <a:ext cx="11292000" cy="42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txBody>
          <a:bodyPr wrap="square" lIns="114300" tIns="76200" rIns="114300" bIns="76200" anchor="ctr"/>
          <a:lstStyle/>
          <a:p>
            <a:pPr algn="l"/>
            <a:r>
              <a:rPr lang="pt-BR" sz="1200" dirty="0">
                <a:solidFill>
                  <a:srgbClr val="1E3A8A"/>
                </a:solidFill>
                <a:latin typeface="Calibri"/>
                <a:cs typeface="Calibri"/>
              </a:rPr>
              <a:t>Assistente de auditoria que bloqueia o fechamento caso exista loja esquecida, alerta pendente ou divergência de valores.</a:t>
            </a:r>
          </a:p>
        </p:txBody>
      </p:sp>
      <p:sp>
        <p:nvSpPr>
          <p:cNvPr id="4" name="ImageFrameBg"/>
          <p:cNvSpPr/>
          <p:nvPr/>
        </p:nvSpPr>
        <p:spPr>
          <a:xfrm>
            <a:off x="450000" y="1520000"/>
            <a:ext cx="6800000" cy="4250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t"/>
          <a:lstStyle/>
          <a:p>
            <a:pPr algn="l"/>
            <a:endParaRPr lang="pt-BR" sz="1400"/>
          </a:p>
        </p:txBody>
      </p:sp>
      <p:pic>
        <p:nvPicPr>
          <p:cNvPr id="5" name="Screenshot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578000" y="1600000"/>
            <a:ext cx="6544000" cy="4090000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sp>
        <p:nvSpPr>
          <p:cNvPr id="6" name="FeatureCard_1"/>
          <p:cNvSpPr/>
          <p:nvPr/>
        </p:nvSpPr>
        <p:spPr>
          <a:xfrm>
            <a:off x="7420000" y="1520000"/>
            <a:ext cx="4322000" cy="99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ctr"/>
          <a:lstStyle/>
          <a:p>
            <a:pPr algn="l">
              <a:spcAft>
                <a:spcPts val="300"/>
              </a:spcAft>
            </a:pPr>
            <a:r>
              <a:rPr lang="pt-BR" sz="1300" b="1" dirty="0">
                <a:solidFill>
                  <a:srgbClr val="0284C7"/>
                </a:solidFill>
                <a:latin typeface="Calibri"/>
                <a:cs typeface="Calibri"/>
              </a:rPr>
              <a:t>✅ Pilar 1 e 2: 100% Lidas &amp; Alertas Auditados</a:t>
            </a:r>
          </a:p>
          <a:p>
            <a:pPr algn="l"/>
            <a:r>
              <a:rPr lang="pt-BR" sz="1100" dirty="0">
                <a:solidFill>
                  <a:srgbClr val="334155"/>
                </a:solidFill>
                <a:latin typeface="Calibri"/>
                <a:cs typeface="Calibri"/>
              </a:rPr>
              <a:t>Garante 64/64 lojas de água lidas e exige validação de qualquer suspeita de vazamento antes de fechar.</a:t>
            </a:r>
          </a:p>
        </p:txBody>
      </p:sp>
      <p:sp>
        <p:nvSpPr>
          <p:cNvPr id="7" name="FeatureCard_2"/>
          <p:cNvSpPr/>
          <p:nvPr/>
        </p:nvSpPr>
        <p:spPr>
          <a:xfrm>
            <a:off x="7420000" y="2605000"/>
            <a:ext cx="4322000" cy="99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ctr"/>
          <a:lstStyle/>
          <a:p>
            <a:pPr algn="l">
              <a:spcAft>
                <a:spcPts val="300"/>
              </a:spcAft>
            </a:pPr>
            <a:r>
              <a:rPr lang="pt-BR" sz="1300" b="1" dirty="0">
                <a:solidFill>
                  <a:srgbClr val="0284C7"/>
                </a:solidFill>
                <a:latin typeface="Calibri"/>
                <a:cs typeface="Calibri"/>
              </a:rPr>
              <a:t>🔄 Pilar 3: Continuidade vs. Mês Anterior</a:t>
            </a:r>
          </a:p>
          <a:p>
            <a:pPr algn="l"/>
            <a:r>
              <a:rPr lang="pt-BR" sz="1100" dirty="0">
                <a:solidFill>
                  <a:srgbClr val="334155"/>
                </a:solidFill>
                <a:latin typeface="Calibri"/>
                <a:cs typeface="Calibri"/>
              </a:rPr>
              <a:t>Impede que lojas cobradas no mês passado sejam esquecidas por falha operacional.</a:t>
            </a:r>
          </a:p>
        </p:txBody>
      </p:sp>
      <p:sp>
        <p:nvSpPr>
          <p:cNvPr id="8" name="FeatureCard_3"/>
          <p:cNvSpPr/>
          <p:nvPr/>
        </p:nvSpPr>
        <p:spPr>
          <a:xfrm>
            <a:off x="7420000" y="3690000"/>
            <a:ext cx="4322000" cy="99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ctr"/>
          <a:lstStyle/>
          <a:p>
            <a:pPr algn="l">
              <a:spcAft>
                <a:spcPts val="300"/>
              </a:spcAft>
            </a:pPr>
            <a:r>
              <a:rPr lang="pt-BR" sz="1300" b="1" dirty="0">
                <a:solidFill>
                  <a:srgbClr val="0284C7"/>
                </a:solidFill>
                <a:latin typeface="Calibri"/>
                <a:cs typeface="Calibri"/>
              </a:rPr>
              <a:t>💰 Pilar 4: Conciliação Exata (R$ 0,00)</a:t>
            </a:r>
          </a:p>
          <a:p>
            <a:pPr algn="l"/>
            <a:r>
              <a:rPr lang="pt-BR" sz="1100" dirty="0">
                <a:solidFill>
                  <a:srgbClr val="334155"/>
                </a:solidFill>
                <a:latin typeface="Calibri"/>
                <a:cs typeface="Calibri"/>
              </a:rPr>
              <a:t>Valida Fatura Concessionária (R$ 90.679,77) = Total Rateado (R$ 90.679,77) com Diferença R$ 0,00.</a:t>
            </a:r>
          </a:p>
        </p:txBody>
      </p:sp>
      <p:sp>
        <p:nvSpPr>
          <p:cNvPr id="9" name="FeatureCard_4"/>
          <p:cNvSpPr/>
          <p:nvPr/>
        </p:nvSpPr>
        <p:spPr>
          <a:xfrm>
            <a:off x="7420000" y="4775000"/>
            <a:ext cx="4322000" cy="99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ctr"/>
          <a:lstStyle/>
          <a:p>
            <a:pPr algn="l">
              <a:spcAft>
                <a:spcPts val="300"/>
              </a:spcAft>
            </a:pPr>
            <a:r>
              <a:rPr lang="pt-BR" sz="1300" b="1" dirty="0">
                <a:solidFill>
                  <a:srgbClr val="0284C7"/>
                </a:solidFill>
                <a:latin typeface="Calibri"/>
                <a:cs typeface="Calibri"/>
              </a:rPr>
              <a:t>🔒 Pilar 5: Congelamento Contábil em 1 Clique</a:t>
            </a:r>
          </a:p>
          <a:p>
            <a:pPr algn="l"/>
            <a:r>
              <a:rPr lang="pt-BR" sz="1100" dirty="0">
                <a:solidFill>
                  <a:srgbClr val="334155"/>
                </a:solidFill>
                <a:latin typeface="Calibri"/>
                <a:cs typeface="Calibri"/>
              </a:rPr>
              <a:t>Tranca todas as medições e tarifas após a aprovação para impedir edições acidentais.</a:t>
            </a:r>
          </a:p>
        </p:txBody>
      </p:sp>
      <p:sp>
        <p:nvSpPr>
          <p:cNvPr id="10" name="TakeawayBar"/>
          <p:cNvSpPr/>
          <p:nvPr/>
        </p:nvSpPr>
        <p:spPr>
          <a:xfrm>
            <a:off x="450000" y="5900000"/>
            <a:ext cx="11292000" cy="520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txBody>
          <a:bodyPr wrap="square" lIns="114300" tIns="76200" rIns="114300" bIns="76200" anchor="ctr"/>
          <a:lstStyle/>
          <a:p>
            <a:pPr algn="l"/>
            <a:r>
              <a:rPr lang="pt-BR" sz="1200" b="1" dirty="0">
                <a:solidFill>
                  <a:srgbClr val="065F46"/>
                </a:solidFill>
                <a:latin typeface="Calibri"/>
                <a:cs typeface="Calibri"/>
              </a:rPr>
              <a:t>🛡️ Proteção de Caixa do Shopping: </a:t>
            </a:r>
            <a:r>
              <a:rPr lang="pt-BR" sz="1150" dirty="0">
                <a:solidFill>
                  <a:srgbClr val="064E3B"/>
                </a:solidFill>
                <a:latin typeface="Calibri"/>
                <a:cs typeface="Calibri"/>
              </a:rPr>
              <a:t>Impossibilita que o condomínio pague diferenças de conta de água por erro de rateio ou esquecimento de lojas.</a:t>
            </a:r>
          </a:p>
        </p:txBody>
      </p:sp>
      <p:sp>
        <p:nvSpPr>
          <p:cNvPr id="11" name="FooterText"/>
          <p:cNvSpPr/>
          <p:nvPr/>
        </p:nvSpPr>
        <p:spPr>
          <a:xfrm>
            <a:off x="450000" y="6480000"/>
            <a:ext cx="1129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76200" rIns="0" bIns="76200" anchor="ctr"/>
          <a:lstStyle/>
          <a:p>
            <a:pPr algn="r"/>
            <a:r>
              <a:rPr lang="pt-BR" sz="950" b="1" dirty="0">
                <a:solidFill>
                  <a:srgbClr val="64748B"/>
                </a:solidFill>
                <a:latin typeface="Calibri"/>
                <a:cs typeface="Calibri"/>
              </a:rPr>
              <a:t>Apresentação Executiva à Diretoria • Base Real Homologada: Água (Outubro/2026)   |   Slide 5 de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9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450000" tIns="76200" rIns="114300" bIns="76200" anchor="ctr"/>
          <a:lstStyle/>
          <a:p>
            <a:pPr algn="l">
              <a:spcAft>
                <a:spcPts val="200"/>
              </a:spcAft>
            </a:pPr>
            <a:r>
              <a:rPr lang="pt-BR" sz="1000" b="1" dirty="0">
                <a:solidFill>
                  <a:srgbClr val="38BDF8"/>
                </a:solidFill>
                <a:latin typeface="Calibri"/>
                <a:cs typeface="Calibri"/>
              </a:rPr>
              <a:t>◆ SHOPRATEIO  |  AUDITORIA HISTÓRICA</a:t>
            </a:r>
          </a:p>
          <a:p>
            <a:pPr algn="l"/>
            <a:r>
              <a:rPr lang="pt-BR" sz="2000" b="1" dirty="0">
                <a:solidFill>
                  <a:srgbClr val="FFFFFF"/>
                </a:solidFill>
                <a:latin typeface="Calibri"/>
                <a:cs typeface="Calibri"/>
              </a:rPr>
              <a:t>5. Painel de Continuidade vs. Mês Anterior</a:t>
            </a:r>
          </a:p>
        </p:txBody>
      </p:sp>
      <p:sp>
        <p:nvSpPr>
          <p:cNvPr id="3" name="SubtitleBar"/>
          <p:cNvSpPr/>
          <p:nvPr/>
        </p:nvSpPr>
        <p:spPr>
          <a:xfrm>
            <a:off x="450000" y="1000000"/>
            <a:ext cx="11292000" cy="42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txBody>
          <a:bodyPr wrap="square" lIns="114300" tIns="76200" rIns="114300" bIns="76200" anchor="ctr"/>
          <a:lstStyle/>
          <a:p>
            <a:pPr algn="l"/>
            <a:r>
              <a:rPr lang="pt-BR" sz="1200" dirty="0">
                <a:solidFill>
                  <a:srgbClr val="1E3A8A"/>
                </a:solidFill>
                <a:latin typeface="Calibri"/>
                <a:cs typeface="Calibri"/>
              </a:rPr>
              <a:t>Cruzamento automático entre meses (Outubro/2026 vs Setembro/2026) para garantir que nenhuma loja fique sem cobrança.</a:t>
            </a:r>
          </a:p>
        </p:txBody>
      </p:sp>
      <p:sp>
        <p:nvSpPr>
          <p:cNvPr id="4" name="ImageFrameBg"/>
          <p:cNvSpPr/>
          <p:nvPr/>
        </p:nvSpPr>
        <p:spPr>
          <a:xfrm>
            <a:off x="450000" y="1520000"/>
            <a:ext cx="6800000" cy="4250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t"/>
          <a:lstStyle/>
          <a:p>
            <a:pPr algn="l"/>
            <a:endParaRPr lang="pt-BR" sz="1400"/>
          </a:p>
        </p:txBody>
      </p:sp>
      <p:pic>
        <p:nvPicPr>
          <p:cNvPr id="5" name="Screenshot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578000" y="1600000"/>
            <a:ext cx="6544000" cy="4090000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sp>
        <p:nvSpPr>
          <p:cNvPr id="6" name="FeatureCard_1"/>
          <p:cNvSpPr/>
          <p:nvPr/>
        </p:nvSpPr>
        <p:spPr>
          <a:xfrm>
            <a:off x="7420000" y="1520000"/>
            <a:ext cx="4322000" cy="99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ctr"/>
          <a:lstStyle/>
          <a:p>
            <a:pPr algn="l">
              <a:spcAft>
                <a:spcPts val="300"/>
              </a:spcAft>
            </a:pPr>
            <a:r>
              <a:rPr lang="pt-BR" sz="1300" b="1" dirty="0">
                <a:solidFill>
                  <a:srgbClr val="0284C7"/>
                </a:solidFill>
                <a:latin typeface="Calibri"/>
                <a:cs typeface="Calibri"/>
              </a:rPr>
              <a:t>🔍 Cruzamento Automático Mês a Mês</a:t>
            </a:r>
          </a:p>
          <a:p>
            <a:pPr algn="l"/>
            <a:r>
              <a:rPr lang="pt-BR" sz="1100" dirty="0">
                <a:solidFill>
                  <a:srgbClr val="334155"/>
                </a:solidFill>
                <a:latin typeface="Calibri"/>
                <a:cs typeface="Calibri"/>
              </a:rPr>
              <a:t>Compara instantaneamente as 63 lojas medidas no mês anterior com as 63 lidas no mês atual (0 faltantes).</a:t>
            </a:r>
          </a:p>
        </p:txBody>
      </p:sp>
      <p:sp>
        <p:nvSpPr>
          <p:cNvPr id="7" name="FeatureCard_2"/>
          <p:cNvSpPr/>
          <p:nvPr/>
        </p:nvSpPr>
        <p:spPr>
          <a:xfrm>
            <a:off x="7420000" y="2605000"/>
            <a:ext cx="4322000" cy="99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ctr"/>
          <a:lstStyle/>
          <a:p>
            <a:pPr algn="l">
              <a:spcAft>
                <a:spcPts val="300"/>
              </a:spcAft>
            </a:pPr>
            <a:r>
              <a:rPr lang="pt-BR" sz="1300" b="1" dirty="0">
                <a:solidFill>
                  <a:srgbClr val="0284C7"/>
                </a:solidFill>
                <a:latin typeface="Calibri"/>
                <a:cs typeface="Calibri"/>
              </a:rPr>
              <a:t>📋 Visão Lado a Lado (Ant → Atual)</a:t>
            </a:r>
          </a:p>
          <a:p>
            <a:pPr algn="l"/>
            <a:r>
              <a:rPr lang="pt-BR" sz="1100" dirty="0">
                <a:solidFill>
                  <a:srgbClr val="334155"/>
                </a:solidFill>
                <a:latin typeface="Calibri"/>
                <a:cs typeface="Calibri"/>
              </a:rPr>
              <a:t>Exibe Panvel (900→904), Nike (3.390→3.402), Starbucks (3.424→3.443), Cinemark (45.977→46.118).</a:t>
            </a:r>
          </a:p>
        </p:txBody>
      </p:sp>
      <p:sp>
        <p:nvSpPr>
          <p:cNvPr id="8" name="FeatureCard_3"/>
          <p:cNvSpPr/>
          <p:nvPr/>
        </p:nvSpPr>
        <p:spPr>
          <a:xfrm>
            <a:off x="7420000" y="3690000"/>
            <a:ext cx="4322000" cy="99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ctr"/>
          <a:lstStyle/>
          <a:p>
            <a:pPr algn="l">
              <a:spcAft>
                <a:spcPts val="300"/>
              </a:spcAft>
            </a:pPr>
            <a:r>
              <a:rPr lang="pt-BR" sz="1300" b="1" dirty="0">
                <a:solidFill>
                  <a:srgbClr val="0284C7"/>
                </a:solidFill>
                <a:latin typeface="Calibri"/>
                <a:cs typeface="Calibri"/>
              </a:rPr>
              <a:t>🎯 Aba "Faltam Ler" com Atalho Direto</a:t>
            </a:r>
          </a:p>
          <a:p>
            <a:pPr algn="l"/>
            <a:r>
              <a:rPr lang="pt-BR" sz="1100" dirty="0">
                <a:solidFill>
                  <a:srgbClr val="334155"/>
                </a:solidFill>
                <a:latin typeface="Calibri"/>
                <a:cs typeface="Calibri"/>
              </a:rPr>
              <a:t>Se faltar qualquer loja, ela fica isolada na aba de pendências com botão para ir direto à linha na tabela.</a:t>
            </a:r>
          </a:p>
        </p:txBody>
      </p:sp>
      <p:sp>
        <p:nvSpPr>
          <p:cNvPr id="9" name="FeatureCard_4"/>
          <p:cNvSpPr/>
          <p:nvPr/>
        </p:nvSpPr>
        <p:spPr>
          <a:xfrm>
            <a:off x="7420000" y="4775000"/>
            <a:ext cx="4322000" cy="99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ctr"/>
          <a:lstStyle/>
          <a:p>
            <a:pPr algn="l">
              <a:spcAft>
                <a:spcPts val="300"/>
              </a:spcAft>
            </a:pPr>
            <a:r>
              <a:rPr lang="pt-BR" sz="1300" b="1" dirty="0">
                <a:solidFill>
                  <a:srgbClr val="0284C7"/>
                </a:solidFill>
                <a:latin typeface="Calibri"/>
                <a:cs typeface="Calibri"/>
              </a:rPr>
              <a:t>🔗 Imune a Trocas de Contrato no SAP</a:t>
            </a:r>
          </a:p>
          <a:p>
            <a:pPr algn="l"/>
            <a:r>
              <a:rPr lang="pt-BR" sz="1100" dirty="0">
                <a:solidFill>
                  <a:srgbClr val="334155"/>
                </a:solidFill>
                <a:latin typeface="Calibri"/>
                <a:cs typeface="Calibri"/>
              </a:rPr>
              <a:t>Reconhece a loja pelo espaço físico (LUC), pelo contrato ou pelo nome, mesmo quando há renovação contratual.</a:t>
            </a:r>
          </a:p>
        </p:txBody>
      </p:sp>
      <p:sp>
        <p:nvSpPr>
          <p:cNvPr id="10" name="TakeawayBar"/>
          <p:cNvSpPr/>
          <p:nvPr/>
        </p:nvSpPr>
        <p:spPr>
          <a:xfrm>
            <a:off x="450000" y="5900000"/>
            <a:ext cx="11292000" cy="520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txBody>
          <a:bodyPr wrap="square" lIns="114300" tIns="76200" rIns="114300" bIns="76200" anchor="ctr"/>
          <a:lstStyle/>
          <a:p>
            <a:pPr algn="l"/>
            <a:r>
              <a:rPr lang="pt-BR" sz="1200" b="1" dirty="0">
                <a:solidFill>
                  <a:srgbClr val="065F46"/>
                </a:solidFill>
                <a:latin typeface="Calibri"/>
                <a:cs typeface="Calibri"/>
              </a:rPr>
              <a:t>💡 Ganho de Governança: </a:t>
            </a:r>
            <a:r>
              <a:rPr lang="pt-BR" sz="1150" dirty="0">
                <a:solidFill>
                  <a:srgbClr val="064E3B"/>
                </a:solidFill>
                <a:latin typeface="Calibri"/>
                <a:cs typeface="Calibri"/>
              </a:rPr>
              <a:t>Elimina o erro clássico de esquecer uma loja ativa durante trocas de razão social ou atualização de planilhas.</a:t>
            </a:r>
          </a:p>
        </p:txBody>
      </p:sp>
      <p:sp>
        <p:nvSpPr>
          <p:cNvPr id="11" name="FooterText"/>
          <p:cNvSpPr/>
          <p:nvPr/>
        </p:nvSpPr>
        <p:spPr>
          <a:xfrm>
            <a:off x="450000" y="6480000"/>
            <a:ext cx="1129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76200" rIns="0" bIns="76200" anchor="ctr"/>
          <a:lstStyle/>
          <a:p>
            <a:pPr algn="r"/>
            <a:r>
              <a:rPr lang="pt-BR" sz="950" b="1" dirty="0">
                <a:solidFill>
                  <a:srgbClr val="64748B"/>
                </a:solidFill>
                <a:latin typeface="Calibri"/>
                <a:cs typeface="Calibri"/>
              </a:rPr>
              <a:t>Apresentação Executiva à Diretoria • Base Real Homologada: Água (Outubro/2026)   |   Slide 6 de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9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450000" tIns="76200" rIns="114300" bIns="76200" anchor="ctr"/>
          <a:lstStyle/>
          <a:p>
            <a:pPr algn="l">
              <a:spcAft>
                <a:spcPts val="200"/>
              </a:spcAft>
            </a:pPr>
            <a:r>
              <a:rPr lang="pt-BR" sz="1000" b="1" dirty="0">
                <a:solidFill>
                  <a:srgbClr val="38BDF8"/>
                </a:solidFill>
                <a:latin typeface="Calibri"/>
                <a:cs typeface="Calibri"/>
              </a:rPr>
              <a:t>◆ SHOPRATEIO  |  AGILIDADE EM CAMPO</a:t>
            </a:r>
          </a:p>
          <a:p>
            <a:pPr algn="l"/>
            <a:r>
              <a:rPr lang="pt-BR" sz="2000" b="1" dirty="0">
                <a:solidFill>
                  <a:srgbClr val="FFFFFF"/>
                </a:solidFill>
                <a:latin typeface="Calibri"/>
                <a:cs typeface="Calibri"/>
              </a:rPr>
              <a:t>6. Justificativa Rápida em 1 Toque (Observações)</a:t>
            </a:r>
          </a:p>
        </p:txBody>
      </p:sp>
      <p:sp>
        <p:nvSpPr>
          <p:cNvPr id="3" name="SubtitleBar"/>
          <p:cNvSpPr/>
          <p:nvPr/>
        </p:nvSpPr>
        <p:spPr>
          <a:xfrm>
            <a:off x="450000" y="1000000"/>
            <a:ext cx="11292000" cy="42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txBody>
          <a:bodyPr wrap="square" lIns="114300" tIns="76200" rIns="114300" bIns="76200" anchor="ctr"/>
          <a:lstStyle/>
          <a:p>
            <a:pPr algn="l"/>
            <a:r>
              <a:rPr lang="pt-BR" sz="1200" dirty="0">
                <a:solidFill>
                  <a:srgbClr val="1E3A8A"/>
                </a:solidFill>
                <a:latin typeface="Calibri"/>
                <a:cs typeface="Calibri"/>
              </a:rPr>
              <a:t>Padronização das ocorrências encontradas pelo leiturista nos corredores sem atrasar a ronda de coleta.</a:t>
            </a:r>
          </a:p>
        </p:txBody>
      </p:sp>
      <p:sp>
        <p:nvSpPr>
          <p:cNvPr id="4" name="ImageFrameBg"/>
          <p:cNvSpPr/>
          <p:nvPr/>
        </p:nvSpPr>
        <p:spPr>
          <a:xfrm>
            <a:off x="450000" y="1520000"/>
            <a:ext cx="6800000" cy="4250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t"/>
          <a:lstStyle/>
          <a:p>
            <a:pPr algn="l"/>
            <a:endParaRPr lang="pt-BR" sz="1400"/>
          </a:p>
        </p:txBody>
      </p:sp>
      <p:pic>
        <p:nvPicPr>
          <p:cNvPr id="5" name="Screenshot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578000" y="1600000"/>
            <a:ext cx="6544000" cy="4090000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sp>
        <p:nvSpPr>
          <p:cNvPr id="6" name="FeatureCard_1"/>
          <p:cNvSpPr/>
          <p:nvPr/>
        </p:nvSpPr>
        <p:spPr>
          <a:xfrm>
            <a:off x="7420000" y="1520000"/>
            <a:ext cx="4322000" cy="99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ctr"/>
          <a:lstStyle/>
          <a:p>
            <a:pPr algn="l">
              <a:spcAft>
                <a:spcPts val="300"/>
              </a:spcAft>
            </a:pPr>
            <a:r>
              <a:rPr lang="pt-BR" sz="1300" b="1" dirty="0">
                <a:solidFill>
                  <a:srgbClr val="0284C7"/>
                </a:solidFill>
                <a:latin typeface="Calibri"/>
                <a:cs typeface="Calibri"/>
              </a:rPr>
              <a:t>🏷️ 5 Etiquetas Prontas em 1 Toque</a:t>
            </a:r>
          </a:p>
          <a:p>
            <a:pPr algn="l"/>
            <a:r>
              <a:rPr lang="pt-BR" sz="1100" dirty="0">
                <a:solidFill>
                  <a:srgbClr val="334155"/>
                </a:solidFill>
                <a:latin typeface="Calibri"/>
                <a:cs typeface="Calibri"/>
              </a:rPr>
              <a:t>Botões rápidos para "Sem Acesso", "Embaçado", "Relógio Trocado", "Vazamento" e "Em Reforma".</a:t>
            </a:r>
          </a:p>
        </p:txBody>
      </p:sp>
      <p:sp>
        <p:nvSpPr>
          <p:cNvPr id="7" name="FeatureCard_2"/>
          <p:cNvSpPr/>
          <p:nvPr/>
        </p:nvSpPr>
        <p:spPr>
          <a:xfrm>
            <a:off x="7420000" y="2605000"/>
            <a:ext cx="4322000" cy="99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ctr"/>
          <a:lstStyle/>
          <a:p>
            <a:pPr algn="l">
              <a:spcAft>
                <a:spcPts val="300"/>
              </a:spcAft>
            </a:pPr>
            <a:r>
              <a:rPr lang="pt-BR" sz="1300" b="1" dirty="0">
                <a:solidFill>
                  <a:srgbClr val="0284C7"/>
                </a:solidFill>
                <a:latin typeface="Calibri"/>
                <a:cs typeface="Calibri"/>
              </a:rPr>
              <a:t>⏱️ Registro Instantâneo sem Digitação</a:t>
            </a:r>
          </a:p>
          <a:p>
            <a:pPr algn="l"/>
            <a:r>
              <a:rPr lang="pt-BR" sz="1100" dirty="0">
                <a:solidFill>
                  <a:srgbClr val="334155"/>
                </a:solidFill>
                <a:latin typeface="Calibri"/>
                <a:cs typeface="Calibri"/>
              </a:rPr>
              <a:t>O técnico seleciona a etiqueta no celular em 2 segundos e segue para a próxima loja da rota.</a:t>
            </a:r>
          </a:p>
        </p:txBody>
      </p:sp>
      <p:sp>
        <p:nvSpPr>
          <p:cNvPr id="8" name="FeatureCard_3"/>
          <p:cNvSpPr/>
          <p:nvPr/>
        </p:nvSpPr>
        <p:spPr>
          <a:xfrm>
            <a:off x="7420000" y="3690000"/>
            <a:ext cx="4322000" cy="99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ctr"/>
          <a:lstStyle/>
          <a:p>
            <a:pPr algn="l">
              <a:spcAft>
                <a:spcPts val="300"/>
              </a:spcAft>
            </a:pPr>
            <a:r>
              <a:rPr lang="pt-BR" sz="1300" b="1" dirty="0">
                <a:solidFill>
                  <a:srgbClr val="0284C7"/>
                </a:solidFill>
                <a:latin typeface="Calibri"/>
                <a:cs typeface="Calibri"/>
              </a:rPr>
              <a:t>📑 Respaldo para Lojas Fechadas/Obras</a:t>
            </a:r>
          </a:p>
          <a:p>
            <a:pPr algn="l"/>
            <a:r>
              <a:rPr lang="pt-BR" sz="1100" dirty="0">
                <a:solidFill>
                  <a:srgbClr val="334155"/>
                </a:solidFill>
                <a:latin typeface="Calibri"/>
                <a:cs typeface="Calibri"/>
              </a:rPr>
              <a:t>Formaliza o motivo pelo qual uma loja em reforma teve consumo zero, liberando a trava de auditoria.</a:t>
            </a:r>
          </a:p>
        </p:txBody>
      </p:sp>
      <p:sp>
        <p:nvSpPr>
          <p:cNvPr id="9" name="FeatureCard_4"/>
          <p:cNvSpPr/>
          <p:nvPr/>
        </p:nvSpPr>
        <p:spPr>
          <a:xfrm>
            <a:off x="7420000" y="4775000"/>
            <a:ext cx="4322000" cy="99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ctr"/>
          <a:lstStyle/>
          <a:p>
            <a:pPr algn="l">
              <a:spcAft>
                <a:spcPts val="300"/>
              </a:spcAft>
            </a:pPr>
            <a:r>
              <a:rPr lang="pt-BR" sz="1300" b="1" dirty="0">
                <a:solidFill>
                  <a:srgbClr val="0284C7"/>
                </a:solidFill>
                <a:latin typeface="Calibri"/>
                <a:cs typeface="Calibri"/>
              </a:rPr>
              <a:t>🔎 Histórico Documentado na Tabela</a:t>
            </a:r>
          </a:p>
          <a:p>
            <a:pPr algn="l"/>
            <a:r>
              <a:rPr lang="pt-BR" sz="1100" dirty="0">
                <a:solidFill>
                  <a:srgbClr val="334155"/>
                </a:solidFill>
                <a:latin typeface="Calibri"/>
                <a:cs typeface="Calibri"/>
              </a:rPr>
              <a:t>A justificativa fica gravada junto à leitura do mês e aparece nos relatórios gerenciais e Excel.</a:t>
            </a:r>
          </a:p>
        </p:txBody>
      </p:sp>
      <p:sp>
        <p:nvSpPr>
          <p:cNvPr id="10" name="TakeawayBar"/>
          <p:cNvSpPr/>
          <p:nvPr/>
        </p:nvSpPr>
        <p:spPr>
          <a:xfrm>
            <a:off x="450000" y="5900000"/>
            <a:ext cx="11292000" cy="520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txBody>
          <a:bodyPr wrap="square" lIns="114300" tIns="76200" rIns="114300" bIns="76200" anchor="ctr"/>
          <a:lstStyle/>
          <a:p>
            <a:pPr algn="l"/>
            <a:r>
              <a:rPr lang="pt-BR" sz="1200" b="1" dirty="0">
                <a:solidFill>
                  <a:srgbClr val="065F46"/>
                </a:solidFill>
                <a:latin typeface="Calibri"/>
                <a:cs typeface="Calibri"/>
              </a:rPr>
              <a:t>💡 Ganho para a Equipe Técnica: </a:t>
            </a:r>
            <a:r>
              <a:rPr lang="pt-BR" sz="1150" dirty="0">
                <a:solidFill>
                  <a:srgbClr val="064E3B"/>
                </a:solidFill>
                <a:latin typeface="Calibri"/>
                <a:cs typeface="Calibri"/>
              </a:rPr>
              <a:t>Padroniza a comunicação entre a equipe de manutenção em campo e o setor financeiro no escritório.</a:t>
            </a:r>
          </a:p>
        </p:txBody>
      </p:sp>
      <p:sp>
        <p:nvSpPr>
          <p:cNvPr id="11" name="FooterText"/>
          <p:cNvSpPr/>
          <p:nvPr/>
        </p:nvSpPr>
        <p:spPr>
          <a:xfrm>
            <a:off x="450000" y="6480000"/>
            <a:ext cx="1129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76200" rIns="0" bIns="76200" anchor="ctr"/>
          <a:lstStyle/>
          <a:p>
            <a:pPr algn="r"/>
            <a:r>
              <a:rPr lang="pt-BR" sz="950" b="1" dirty="0">
                <a:solidFill>
                  <a:srgbClr val="64748B"/>
                </a:solidFill>
                <a:latin typeface="Calibri"/>
                <a:cs typeface="Calibri"/>
              </a:rPr>
              <a:t>Apresentação Executiva à Diretoria • Base Real Homologada: Água (Outubro/2026)   |   Slide 7 de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9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450000" tIns="76200" rIns="114300" bIns="76200" anchor="ctr"/>
          <a:lstStyle/>
          <a:p>
            <a:pPr algn="l">
              <a:spcAft>
                <a:spcPts val="200"/>
              </a:spcAft>
            </a:pPr>
            <a:r>
              <a:rPr lang="pt-BR" sz="1000" b="1" dirty="0">
                <a:solidFill>
                  <a:srgbClr val="38BDF8"/>
                </a:solidFill>
                <a:latin typeface="Calibri"/>
                <a:cs typeface="Calibri"/>
              </a:rPr>
              <a:t>◆ SHOPRATEIO  |  RELACIONAMENTO LOJISTA</a:t>
            </a:r>
          </a:p>
          <a:p>
            <a:pPr algn="l"/>
            <a:r>
              <a:rPr lang="pt-BR" sz="2000" b="1" dirty="0">
                <a:solidFill>
                  <a:srgbClr val="FFFFFF"/>
                </a:solidFill>
                <a:latin typeface="Calibri"/>
                <a:cs typeface="Calibri"/>
              </a:rPr>
              <a:t>7. Espelho Individual do Lojista — Fim das Contestações</a:t>
            </a:r>
          </a:p>
        </p:txBody>
      </p:sp>
      <p:sp>
        <p:nvSpPr>
          <p:cNvPr id="3" name="SubtitleBar"/>
          <p:cNvSpPr/>
          <p:nvPr/>
        </p:nvSpPr>
        <p:spPr>
          <a:xfrm>
            <a:off x="450000" y="1000000"/>
            <a:ext cx="11292000" cy="42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txBody>
          <a:bodyPr wrap="square" lIns="114300" tIns="76200" rIns="114300" bIns="76200" anchor="ctr"/>
          <a:lstStyle/>
          <a:p>
            <a:pPr algn="l"/>
            <a:r>
              <a:rPr lang="pt-BR" sz="1200" dirty="0">
                <a:solidFill>
                  <a:srgbClr val="1E3A8A"/>
                </a:solidFill>
                <a:latin typeface="Calibri"/>
                <a:cs typeface="Calibri"/>
              </a:rPr>
              <a:t>Comprovante oficial individual com memória de cálculo clara e envio imediato por WhatsApp ou PDF.</a:t>
            </a:r>
          </a:p>
        </p:txBody>
      </p:sp>
      <p:sp>
        <p:nvSpPr>
          <p:cNvPr id="4" name="ImageFrameBg"/>
          <p:cNvSpPr/>
          <p:nvPr/>
        </p:nvSpPr>
        <p:spPr>
          <a:xfrm>
            <a:off x="450000" y="1520000"/>
            <a:ext cx="6800000" cy="4250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t"/>
          <a:lstStyle/>
          <a:p>
            <a:pPr algn="l"/>
            <a:endParaRPr lang="pt-BR" sz="1400"/>
          </a:p>
        </p:txBody>
      </p:sp>
      <p:pic>
        <p:nvPicPr>
          <p:cNvPr id="5" name="Screenshot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578000" y="1600000"/>
            <a:ext cx="6544000" cy="4090000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sp>
        <p:nvSpPr>
          <p:cNvPr id="6" name="FeatureCard_1"/>
          <p:cNvSpPr/>
          <p:nvPr/>
        </p:nvSpPr>
        <p:spPr>
          <a:xfrm>
            <a:off x="7420000" y="1520000"/>
            <a:ext cx="4322000" cy="99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ctr"/>
          <a:lstStyle/>
          <a:p>
            <a:pPr algn="l">
              <a:spcAft>
                <a:spcPts val="300"/>
              </a:spcAft>
            </a:pPr>
            <a:r>
              <a:rPr lang="pt-BR" sz="1300" b="1" dirty="0">
                <a:solidFill>
                  <a:srgbClr val="0284C7"/>
                </a:solidFill>
                <a:latin typeface="Calibri"/>
                <a:cs typeface="Calibri"/>
              </a:rPr>
              <a:t>🧾 Memória de Cálculo Didática</a:t>
            </a:r>
          </a:p>
          <a:p>
            <a:pPr algn="l"/>
            <a:r>
              <a:rPr lang="pt-BR" sz="1100" dirty="0">
                <a:solidFill>
                  <a:srgbClr val="334155"/>
                </a:solidFill>
                <a:latin typeface="Calibri"/>
                <a:cs typeface="Calibri"/>
              </a:rPr>
              <a:t>Mostra para a loja (ex: Panvel LUC 1003/1004) Leitura Ant (900), Atual (904), Consumo (4 m³) e Total (R$ 59,65).</a:t>
            </a:r>
          </a:p>
        </p:txBody>
      </p:sp>
      <p:sp>
        <p:nvSpPr>
          <p:cNvPr id="7" name="FeatureCard_2"/>
          <p:cNvSpPr/>
          <p:nvPr/>
        </p:nvSpPr>
        <p:spPr>
          <a:xfrm>
            <a:off x="7420000" y="2605000"/>
            <a:ext cx="4322000" cy="99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ctr"/>
          <a:lstStyle/>
          <a:p>
            <a:pPr algn="l">
              <a:spcAft>
                <a:spcPts val="300"/>
              </a:spcAft>
            </a:pPr>
            <a:r>
              <a:rPr lang="pt-BR" sz="1300" b="1" dirty="0">
                <a:solidFill>
                  <a:srgbClr val="0284C7"/>
                </a:solidFill>
                <a:latin typeface="Calibri"/>
                <a:cs typeface="Calibri"/>
              </a:rPr>
              <a:t>📲 Disparo por WhatsApp em 1 Clique</a:t>
            </a:r>
          </a:p>
          <a:p>
            <a:pPr algn="l"/>
            <a:r>
              <a:rPr lang="pt-BR" sz="1100" dirty="0">
                <a:solidFill>
                  <a:srgbClr val="334155"/>
                </a:solidFill>
                <a:latin typeface="Calibri"/>
                <a:cs typeface="Calibri"/>
              </a:rPr>
              <a:t>Gera a mensagem formatada com todos os dados oficiais pronta para enviar ao lojista em 10 segundos.</a:t>
            </a:r>
          </a:p>
        </p:txBody>
      </p:sp>
      <p:sp>
        <p:nvSpPr>
          <p:cNvPr id="8" name="FeatureCard_3"/>
          <p:cNvSpPr/>
          <p:nvPr/>
        </p:nvSpPr>
        <p:spPr>
          <a:xfrm>
            <a:off x="7420000" y="3690000"/>
            <a:ext cx="4322000" cy="99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ctr"/>
          <a:lstStyle/>
          <a:p>
            <a:pPr algn="l">
              <a:spcAft>
                <a:spcPts val="300"/>
              </a:spcAft>
            </a:pPr>
            <a:r>
              <a:rPr lang="pt-BR" sz="1300" b="1" dirty="0">
                <a:solidFill>
                  <a:srgbClr val="0284C7"/>
                </a:solidFill>
                <a:latin typeface="Calibri"/>
                <a:cs typeface="Calibri"/>
              </a:rPr>
              <a:t>📄 Download em PDF Timbrado</a:t>
            </a:r>
          </a:p>
          <a:p>
            <a:pPr algn="l"/>
            <a:r>
              <a:rPr lang="pt-BR" sz="1100" dirty="0">
                <a:solidFill>
                  <a:srgbClr val="334155"/>
                </a:solidFill>
                <a:latin typeface="Calibri"/>
                <a:cs typeface="Calibri"/>
              </a:rPr>
              <a:t>Permite baixar a "Via do Lojista" em PDF para anexar ao boleto condominial ou e-mail.</a:t>
            </a:r>
          </a:p>
        </p:txBody>
      </p:sp>
      <p:sp>
        <p:nvSpPr>
          <p:cNvPr id="9" name="FeatureCard_4"/>
          <p:cNvSpPr/>
          <p:nvPr/>
        </p:nvSpPr>
        <p:spPr>
          <a:xfrm>
            <a:off x="7420000" y="4775000"/>
            <a:ext cx="4322000" cy="99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ctr"/>
          <a:lstStyle/>
          <a:p>
            <a:pPr algn="l">
              <a:spcAft>
                <a:spcPts val="300"/>
              </a:spcAft>
            </a:pPr>
            <a:r>
              <a:rPr lang="pt-BR" sz="1300" b="1" dirty="0">
                <a:solidFill>
                  <a:srgbClr val="0284C7"/>
                </a:solidFill>
                <a:latin typeface="Calibri"/>
                <a:cs typeface="Calibri"/>
              </a:rPr>
              <a:t>📷 Prova Fotográfica Incontestável</a:t>
            </a:r>
          </a:p>
          <a:p>
            <a:pPr algn="l"/>
            <a:r>
              <a:rPr lang="pt-BR" sz="1100" dirty="0">
                <a:solidFill>
                  <a:srgbClr val="334155"/>
                </a:solidFill>
                <a:latin typeface="Calibri"/>
                <a:cs typeface="Calibri"/>
              </a:rPr>
              <a:t>Acompanha a foto real do hidrômetro, eliminando dúvidas de leitura sem precisar de nova vistoria.</a:t>
            </a:r>
          </a:p>
        </p:txBody>
      </p:sp>
      <p:sp>
        <p:nvSpPr>
          <p:cNvPr id="10" name="TakeawayBar"/>
          <p:cNvSpPr/>
          <p:nvPr/>
        </p:nvSpPr>
        <p:spPr>
          <a:xfrm>
            <a:off x="450000" y="5900000"/>
            <a:ext cx="11292000" cy="520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txBody>
          <a:bodyPr wrap="square" lIns="114300" tIns="76200" rIns="114300" bIns="76200" anchor="ctr"/>
          <a:lstStyle/>
          <a:p>
            <a:pPr algn="l"/>
            <a:r>
              <a:rPr lang="pt-BR" sz="1200" b="1" dirty="0">
                <a:solidFill>
                  <a:srgbClr val="065F46"/>
                </a:solidFill>
                <a:latin typeface="Calibri"/>
                <a:cs typeface="Calibri"/>
              </a:rPr>
              <a:t>🤝 Fim do Desgaste Comercial: </a:t>
            </a:r>
            <a:r>
              <a:rPr lang="pt-BR" sz="1150" dirty="0">
                <a:solidFill>
                  <a:srgbClr val="064E3B"/>
                </a:solidFill>
                <a:latin typeface="Calibri"/>
                <a:cs typeface="Calibri"/>
              </a:rPr>
              <a:t>Transparência total com o lojista: dúvidas são respondidas na hora com números claros e foto do mostrador.</a:t>
            </a:r>
          </a:p>
        </p:txBody>
      </p:sp>
      <p:sp>
        <p:nvSpPr>
          <p:cNvPr id="11" name="FooterText"/>
          <p:cNvSpPr/>
          <p:nvPr/>
        </p:nvSpPr>
        <p:spPr>
          <a:xfrm>
            <a:off x="450000" y="6480000"/>
            <a:ext cx="1129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76200" rIns="0" bIns="76200" anchor="ctr"/>
          <a:lstStyle/>
          <a:p>
            <a:pPr algn="r"/>
            <a:r>
              <a:rPr lang="pt-BR" sz="950" b="1" dirty="0">
                <a:solidFill>
                  <a:srgbClr val="64748B"/>
                </a:solidFill>
                <a:latin typeface="Calibri"/>
                <a:cs typeface="Calibri"/>
              </a:rPr>
              <a:t>Apresentação Executiva à Diretoria • Base Real Homologada: Água (Outubro/2026)   |   Slide 8 de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9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450000" tIns="76200" rIns="114300" bIns="76200" anchor="ctr"/>
          <a:lstStyle/>
          <a:p>
            <a:pPr algn="l">
              <a:spcAft>
                <a:spcPts val="200"/>
              </a:spcAft>
            </a:pPr>
            <a:r>
              <a:rPr lang="pt-BR" sz="1000" b="1" dirty="0">
                <a:solidFill>
                  <a:srgbClr val="38BDF8"/>
                </a:solidFill>
                <a:latin typeface="Calibri"/>
                <a:cs typeface="Calibri"/>
              </a:rPr>
              <a:t>◆ SHOPRATEIO  |  INTELIGÊNCIA &amp; CADASTROS</a:t>
            </a:r>
          </a:p>
          <a:p>
            <a:pPr algn="l"/>
            <a:r>
              <a:rPr lang="pt-BR" sz="2000" b="1" dirty="0">
                <a:solidFill>
                  <a:srgbClr val="FFFFFF"/>
                </a:solidFill>
                <a:latin typeface="Calibri"/>
                <a:cs typeface="Calibri"/>
              </a:rPr>
              <a:t>8. Diagnóstico de Vazamentos &amp; Gestão Cadastral</a:t>
            </a:r>
          </a:p>
        </p:txBody>
      </p:sp>
      <p:sp>
        <p:nvSpPr>
          <p:cNvPr id="3" name="SubtitleBar"/>
          <p:cNvSpPr/>
          <p:nvPr/>
        </p:nvSpPr>
        <p:spPr>
          <a:xfrm>
            <a:off x="450000" y="1000000"/>
            <a:ext cx="11292000" cy="42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AE6FD"/>
            </a:solidFill>
          </a:ln>
        </p:spPr>
        <p:txBody>
          <a:bodyPr wrap="square" lIns="114300" tIns="76200" rIns="114300" bIns="76200" anchor="ctr"/>
          <a:lstStyle/>
          <a:p>
            <a:pPr algn="l"/>
            <a:r>
              <a:rPr lang="pt-BR" sz="1200" dirty="0">
                <a:solidFill>
                  <a:srgbClr val="1E3A8A"/>
                </a:solidFill>
                <a:latin typeface="Calibri"/>
                <a:cs typeface="Calibri"/>
              </a:rPr>
              <a:t>Análise histórica individual por loja com diagnóstico automático de anomalias e controle de contratos SAP.</a:t>
            </a:r>
          </a:p>
        </p:txBody>
      </p:sp>
      <p:sp>
        <p:nvSpPr>
          <p:cNvPr id="4" name="ImageFrameBg"/>
          <p:cNvSpPr/>
          <p:nvPr/>
        </p:nvSpPr>
        <p:spPr>
          <a:xfrm>
            <a:off x="450000" y="1520000"/>
            <a:ext cx="6800000" cy="4250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t"/>
          <a:lstStyle/>
          <a:p>
            <a:pPr algn="l"/>
            <a:endParaRPr lang="pt-BR" sz="1400"/>
          </a:p>
        </p:txBody>
      </p:sp>
      <p:pic>
        <p:nvPicPr>
          <p:cNvPr id="5" name="Screenshot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578000" y="1600000"/>
            <a:ext cx="6544000" cy="4090000"/>
          </a:xfrm>
          <a:prstGeom prst="rect">
            <a:avLst/>
          </a:prstGeom>
          <a:ln w="12700">
            <a:solidFill>
              <a:srgbClr val="334155"/>
            </a:solidFill>
          </a:ln>
        </p:spPr>
      </p:pic>
      <p:sp>
        <p:nvSpPr>
          <p:cNvPr id="6" name="FeatureCard_1"/>
          <p:cNvSpPr/>
          <p:nvPr/>
        </p:nvSpPr>
        <p:spPr>
          <a:xfrm>
            <a:off x="7420000" y="1520000"/>
            <a:ext cx="4322000" cy="99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ctr"/>
          <a:lstStyle/>
          <a:p>
            <a:pPr algn="l">
              <a:spcAft>
                <a:spcPts val="300"/>
              </a:spcAft>
            </a:pPr>
            <a:r>
              <a:rPr lang="pt-BR" sz="1300" b="1" dirty="0">
                <a:solidFill>
                  <a:srgbClr val="0284C7"/>
                </a:solidFill>
                <a:latin typeface="Calibri"/>
                <a:cs typeface="Calibri"/>
              </a:rPr>
              <a:t>🩺 Diagnóstico Automático por Loja</a:t>
            </a:r>
          </a:p>
          <a:p>
            <a:pPr algn="l"/>
            <a:r>
              <a:rPr lang="pt-BR" sz="1100" dirty="0">
                <a:solidFill>
                  <a:srgbClr val="334155"/>
                </a:solidFill>
                <a:latin typeface="Calibri"/>
                <a:cs typeface="Calibri"/>
              </a:rPr>
              <a:t>Avalia se o consumo está normal (ex: BAH — 980 m³ acumulados, média 245 m³) ou em sobrecarga por vazamento.</a:t>
            </a:r>
          </a:p>
        </p:txBody>
      </p:sp>
      <p:sp>
        <p:nvSpPr>
          <p:cNvPr id="7" name="FeatureCard_2"/>
          <p:cNvSpPr/>
          <p:nvPr/>
        </p:nvSpPr>
        <p:spPr>
          <a:xfrm>
            <a:off x="7420000" y="2605000"/>
            <a:ext cx="4322000" cy="99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ctr"/>
          <a:lstStyle/>
          <a:p>
            <a:pPr algn="l">
              <a:spcAft>
                <a:spcPts val="300"/>
              </a:spcAft>
            </a:pPr>
            <a:r>
              <a:rPr lang="pt-BR" sz="1300" b="1" dirty="0">
                <a:solidFill>
                  <a:srgbClr val="0284C7"/>
                </a:solidFill>
                <a:latin typeface="Calibri"/>
                <a:cs typeface="Calibri"/>
              </a:rPr>
              <a:t>📊 Gráficos Históricos de Consumo e Custo</a:t>
            </a:r>
          </a:p>
          <a:p>
            <a:pPr algn="l"/>
            <a:r>
              <a:rPr lang="pt-BR" sz="1100" dirty="0">
                <a:solidFill>
                  <a:srgbClr val="334155"/>
                </a:solidFill>
                <a:latin typeface="Calibri"/>
                <a:cs typeface="Calibri"/>
              </a:rPr>
              <a:t>Curva com linha de média (245 m³) e evolução financeira (R$ 15.088,45 pagos), exportável em PDF/Excel.</a:t>
            </a:r>
          </a:p>
        </p:txBody>
      </p:sp>
      <p:sp>
        <p:nvSpPr>
          <p:cNvPr id="8" name="FeatureCard_3"/>
          <p:cNvSpPr/>
          <p:nvPr/>
        </p:nvSpPr>
        <p:spPr>
          <a:xfrm>
            <a:off x="7420000" y="3690000"/>
            <a:ext cx="4322000" cy="99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ctr"/>
          <a:lstStyle/>
          <a:p>
            <a:pPr algn="l">
              <a:spcAft>
                <a:spcPts val="300"/>
              </a:spcAft>
            </a:pPr>
            <a:r>
              <a:rPr lang="pt-BR" sz="1300" b="1" dirty="0">
                <a:solidFill>
                  <a:srgbClr val="0284C7"/>
                </a:solidFill>
                <a:latin typeface="Calibri"/>
                <a:cs typeface="Calibri"/>
              </a:rPr>
              <a:t>🏢 Gestão Cadastral e Vínculo com SAP</a:t>
            </a:r>
          </a:p>
          <a:p>
            <a:pPr algn="l"/>
            <a:r>
              <a:rPr lang="pt-BR" sz="1100" dirty="0">
                <a:solidFill>
                  <a:srgbClr val="334155"/>
                </a:solidFill>
                <a:latin typeface="Calibri"/>
                <a:cs typeface="Calibri"/>
              </a:rPr>
              <a:t>Controla as 64 lojas ativas de Água, rastreando substituições de contratos sem perder leituras anteriores.</a:t>
            </a:r>
          </a:p>
        </p:txBody>
      </p:sp>
      <p:sp>
        <p:nvSpPr>
          <p:cNvPr id="9" name="FeatureCard_4"/>
          <p:cNvSpPr/>
          <p:nvPr/>
        </p:nvSpPr>
        <p:spPr>
          <a:xfrm>
            <a:off x="7420000" y="4775000"/>
            <a:ext cx="4322000" cy="99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14300" tIns="76200" rIns="114300" bIns="76200" anchor="ctr"/>
          <a:lstStyle/>
          <a:p>
            <a:pPr algn="l">
              <a:spcAft>
                <a:spcPts val="300"/>
              </a:spcAft>
            </a:pPr>
            <a:r>
              <a:rPr lang="pt-BR" sz="1300" b="1" dirty="0">
                <a:solidFill>
                  <a:srgbClr val="0284C7"/>
                </a:solidFill>
                <a:latin typeface="Calibri"/>
                <a:cs typeface="Calibri"/>
              </a:rPr>
              <a:t>🛡️ Perfis de Acesso Seguros (RBAC)</a:t>
            </a:r>
          </a:p>
          <a:p>
            <a:pPr algn="l"/>
            <a:r>
              <a:rPr lang="pt-BR" sz="1100" dirty="0">
                <a:solidFill>
                  <a:srgbClr val="334155"/>
                </a:solidFill>
                <a:latin typeface="Calibri"/>
                <a:cs typeface="Calibri"/>
              </a:rPr>
              <a:t>Técnico acessa apenas leituras; Administrador gerencia faturas e fechamento; Visualizador apenas consulta.</a:t>
            </a:r>
          </a:p>
        </p:txBody>
      </p:sp>
      <p:sp>
        <p:nvSpPr>
          <p:cNvPr id="10" name="TakeawayBar"/>
          <p:cNvSpPr/>
          <p:nvPr/>
        </p:nvSpPr>
        <p:spPr>
          <a:xfrm>
            <a:off x="450000" y="5900000"/>
            <a:ext cx="11292000" cy="520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6EE7B7"/>
            </a:solidFill>
          </a:ln>
        </p:spPr>
        <p:txBody>
          <a:bodyPr wrap="square" lIns="114300" tIns="76200" rIns="114300" bIns="76200" anchor="ctr"/>
          <a:lstStyle/>
          <a:p>
            <a:pPr algn="l"/>
            <a:r>
              <a:rPr lang="pt-BR" sz="1200" b="1" dirty="0">
                <a:solidFill>
                  <a:srgbClr val="065F46"/>
                </a:solidFill>
                <a:latin typeface="Calibri"/>
                <a:cs typeface="Calibri"/>
              </a:rPr>
              <a:t>📈 Da Cobrança Passiva à Gestão Ativa: </a:t>
            </a:r>
            <a:r>
              <a:rPr lang="pt-BR" sz="1150" dirty="0">
                <a:solidFill>
                  <a:srgbClr val="064E3B"/>
                </a:solidFill>
                <a:latin typeface="Calibri"/>
                <a:cs typeface="Calibri"/>
              </a:rPr>
              <a:t>O shopping passa a identificar vazamentos precocemente e mantém a base de contratos sempre limpa e auditável.</a:t>
            </a:r>
          </a:p>
        </p:txBody>
      </p:sp>
      <p:sp>
        <p:nvSpPr>
          <p:cNvPr id="11" name="FooterText"/>
          <p:cNvSpPr/>
          <p:nvPr/>
        </p:nvSpPr>
        <p:spPr>
          <a:xfrm>
            <a:off x="450000" y="6480000"/>
            <a:ext cx="11292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76200" rIns="0" bIns="76200" anchor="ctr"/>
          <a:lstStyle/>
          <a:p>
            <a:pPr algn="r"/>
            <a:r>
              <a:rPr lang="pt-BR" sz="950" b="1" dirty="0">
                <a:solidFill>
                  <a:srgbClr val="64748B"/>
                </a:solidFill>
                <a:latin typeface="Calibri"/>
                <a:cs typeface="Calibri"/>
              </a:rPr>
              <a:t>Apresentação Executiva à Diretoria • Base Real Homologada: Água (Outubro/2026)   |   Slide 9 de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10"/>
          <p:cNvSpPr/>
          <p:nvPr/>
        </p:nvSpPr>
        <p:spPr>
          <a:xfrm>
            <a:off x="0" y="0"/>
            <a:ext cx="12192000" cy="9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450000" tIns="76200" rIns="114300" bIns="76200" anchor="ctr"/>
          <a:lstStyle/>
          <a:p>
            <a:pPr algn="l">
              <a:spcAft>
                <a:spcPts val="200"/>
              </a:spcAft>
            </a:pPr>
            <a:r>
              <a:rPr lang="pt-BR" sz="1000" b="1" dirty="0">
                <a:solidFill>
                  <a:srgbClr val="38BDF8"/>
                </a:solidFill>
                <a:latin typeface="Calibri"/>
                <a:cs typeface="Calibri"/>
              </a:rPr>
              <a:t>◆ SHOPRATEIO  |  SÍNTESE EXECUTIVA &amp; RETORNO PARA O SHOPPING</a:t>
            </a:r>
          </a:p>
          <a:p>
            <a:pPr algn="l"/>
            <a:r>
              <a:rPr lang="pt-BR" sz="2000" b="1" dirty="0">
                <a:solidFill>
                  <a:srgbClr val="FFFFFF"/>
                </a:solidFill>
                <a:latin typeface="Calibri"/>
                <a:cs typeface="Calibri"/>
              </a:rPr>
              <a:t>9. Resumo Comparativo: Antes vs. Depois &amp; Próximos Passos</a:t>
            </a:r>
          </a:p>
        </p:txBody>
      </p:sp>
      <p:sp>
        <p:nvSpPr>
          <p:cNvPr id="3" name="BeforeBox"/>
          <p:cNvSpPr/>
          <p:nvPr/>
        </p:nvSpPr>
        <p:spPr>
          <a:xfrm>
            <a:off x="450000" y="1120000"/>
            <a:ext cx="5500000" cy="410000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ECDD3"/>
            </a:solidFill>
          </a:ln>
        </p:spPr>
        <p:txBody>
          <a:bodyPr wrap="square" lIns="220000" tIns="180000" rIns="114300" bIns="76200" anchor="t"/>
          <a:lstStyle/>
          <a:p>
            <a:pPr algn="l">
              <a:spcAft>
                <a:spcPts val="1000"/>
              </a:spcAft>
            </a:pPr>
            <a:r>
              <a:rPr lang="pt-BR" sz="1600" b="1" dirty="0">
                <a:solidFill>
                  <a:srgbClr val="9F1239"/>
                </a:solidFill>
                <a:latin typeface="Calibri"/>
                <a:cs typeface="Calibri"/>
              </a:rPr>
              <a:t>❌ COMO ERA ANTES (Papel &amp; Planilhas)</a:t>
            </a:r>
          </a:p>
          <a:p>
            <a:pPr algn="l">
              <a:spcAft>
                <a:spcPts val="800"/>
              </a:spcAft>
            </a:pPr>
            <a:r>
              <a:rPr lang="pt-BR" sz="1300" b="1" dirty="0">
                <a:solidFill>
                  <a:srgbClr val="881337"/>
                </a:solidFill>
                <a:latin typeface="Calibri"/>
                <a:cs typeface="Calibri"/>
              </a:rPr>
              <a:t>• Pranchetas de papel: </a:t>
            </a:r>
            <a:r>
              <a:rPr lang="pt-BR" sz="1250" dirty="0">
                <a:solidFill>
                  <a:srgbClr val="4C0519"/>
                </a:solidFill>
                <a:latin typeface="Calibri"/>
                <a:cs typeface="Calibri"/>
              </a:rPr>
              <a:t>Erros de leitura, letras ilegíveis e perda de anotações em campo.</a:t>
            </a:r>
          </a:p>
          <a:p>
            <a:pPr algn="l">
              <a:spcAft>
                <a:spcPts val="800"/>
              </a:spcAft>
            </a:pPr>
            <a:r>
              <a:rPr lang="pt-BR" sz="1300" b="1" dirty="0">
                <a:solidFill>
                  <a:srgbClr val="881337"/>
                </a:solidFill>
                <a:latin typeface="Calibri"/>
                <a:cs typeface="Calibri"/>
              </a:rPr>
              <a:t>• Lojas esquecidas no mês: </a:t>
            </a:r>
            <a:r>
              <a:rPr lang="pt-BR" sz="1250" dirty="0">
                <a:solidFill>
                  <a:srgbClr val="4C0519"/>
                </a:solidFill>
                <a:latin typeface="Calibri"/>
                <a:cs typeface="Calibri"/>
              </a:rPr>
              <a:t>Mudanças de contrato deixavam lojas sem cobrança, gerando prejuízo ao condomínio.</a:t>
            </a:r>
          </a:p>
          <a:p>
            <a:pPr algn="l">
              <a:spcAft>
                <a:spcPts val="800"/>
              </a:spcAft>
            </a:pPr>
            <a:r>
              <a:rPr lang="pt-BR" sz="1300" b="1" dirty="0">
                <a:solidFill>
                  <a:srgbClr val="881337"/>
                </a:solidFill>
                <a:latin typeface="Calibri"/>
                <a:cs typeface="Calibri"/>
              </a:rPr>
              <a:t>• Contestações sem prova: </a:t>
            </a:r>
            <a:r>
              <a:rPr lang="pt-BR" sz="1250" dirty="0">
                <a:solidFill>
                  <a:srgbClr val="4C0519"/>
                </a:solidFill>
                <a:latin typeface="Calibri"/>
                <a:cs typeface="Calibri"/>
              </a:rPr>
              <a:t>Lojistas questionavam faturas e não havia foto datada do hidrômetro.</a:t>
            </a:r>
          </a:p>
          <a:p>
            <a:pPr algn="l"/>
            <a:r>
              <a:rPr lang="pt-BR" sz="1300" b="1" dirty="0">
                <a:solidFill>
                  <a:srgbClr val="881337"/>
                </a:solidFill>
                <a:latin typeface="Calibri"/>
                <a:cs typeface="Calibri"/>
              </a:rPr>
              <a:t>• Fechamento lento (3 a 5 dias): </a:t>
            </a:r>
            <a:r>
              <a:rPr lang="pt-BR" sz="1250" dirty="0">
                <a:solidFill>
                  <a:srgbClr val="4C0519"/>
                </a:solidFill>
                <a:latin typeface="Calibri"/>
                <a:cs typeface="Calibri"/>
              </a:rPr>
              <a:t>Redigitação manual e risco constante de fórmulas apagadas no Excel.</a:t>
            </a:r>
          </a:p>
        </p:txBody>
      </p:sp>
      <p:sp>
        <p:nvSpPr>
          <p:cNvPr id="4" name="AfterBox"/>
          <p:cNvSpPr/>
          <p:nvPr/>
        </p:nvSpPr>
        <p:spPr>
          <a:xfrm>
            <a:off x="6242000" y="1120000"/>
            <a:ext cx="5500000" cy="4100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txBody>
          <a:bodyPr wrap="square" lIns="220000" tIns="180000" rIns="114300" bIns="76200" anchor="t"/>
          <a:lstStyle/>
          <a:p>
            <a:pPr algn="l">
              <a:spcAft>
                <a:spcPts val="1000"/>
              </a:spcAft>
            </a:pPr>
            <a:r>
              <a:rPr lang="pt-BR" sz="1600" b="1" dirty="0">
                <a:solidFill>
                  <a:srgbClr val="065F46"/>
                </a:solidFill>
                <a:latin typeface="Calibri"/>
                <a:cs typeface="Calibri"/>
              </a:rPr>
              <a:t>✅ COM O SHOPRATEIO (Governança Digital)</a:t>
            </a:r>
          </a:p>
          <a:p>
            <a:pPr algn="l">
              <a:spcAft>
                <a:spcPts val="800"/>
              </a:spcAft>
            </a:pPr>
            <a:r>
              <a:rPr lang="pt-BR" sz="1300" b="1" dirty="0">
                <a:solidFill>
                  <a:srgbClr val="065F46"/>
                </a:solidFill>
                <a:latin typeface="Calibri"/>
                <a:cs typeface="Calibri"/>
              </a:rPr>
              <a:t>• Coleta Mobile Offline + IA: </a:t>
            </a:r>
            <a:r>
              <a:rPr lang="pt-BR" sz="1250" dirty="0">
                <a:solidFill>
                  <a:srgbClr val="064E3B"/>
                </a:solidFill>
                <a:latin typeface="Calibri"/>
                <a:cs typeface="Calibri"/>
              </a:rPr>
              <a:t>Rota guiada no celular, funcionamento no subsolo sem internet e foto obrigatória.</a:t>
            </a:r>
          </a:p>
          <a:p>
            <a:pPr algn="l">
              <a:spcAft>
                <a:spcPts val="800"/>
              </a:spcAft>
            </a:pPr>
            <a:r>
              <a:rPr lang="pt-BR" sz="1300" b="1" dirty="0">
                <a:solidFill>
                  <a:srgbClr val="065F46"/>
                </a:solidFill>
                <a:latin typeface="Calibri"/>
                <a:cs typeface="Calibri"/>
              </a:rPr>
              <a:t>• Trava dos 5 Pilares (Zero Furos): </a:t>
            </a:r>
            <a:r>
              <a:rPr lang="pt-BR" sz="1250" dirty="0">
                <a:solidFill>
                  <a:srgbClr val="064E3B"/>
                </a:solidFill>
                <a:latin typeface="Calibri"/>
                <a:cs typeface="Calibri"/>
              </a:rPr>
              <a:t>Bloqueia o fechamento se faltar qualquer loja ou se houver 1 centavo de diferença.</a:t>
            </a:r>
          </a:p>
          <a:p>
            <a:pPr algn="l">
              <a:spcAft>
                <a:spcPts val="800"/>
              </a:spcAft>
            </a:pPr>
            <a:r>
              <a:rPr lang="pt-BR" sz="1300" b="1" dirty="0">
                <a:solidFill>
                  <a:srgbClr val="065F46"/>
                </a:solidFill>
                <a:latin typeface="Calibri"/>
                <a:cs typeface="Calibri"/>
              </a:rPr>
              <a:t>• Espelho no WhatsApp em 10s: </a:t>
            </a:r>
            <a:r>
              <a:rPr lang="pt-BR" sz="1250" dirty="0">
                <a:solidFill>
                  <a:srgbClr val="064E3B"/>
                </a:solidFill>
                <a:latin typeface="Calibri"/>
                <a:cs typeface="Calibri"/>
              </a:rPr>
              <a:t>Comprovante individual com foto e memória de cálculo enviado em 1 clique.</a:t>
            </a:r>
          </a:p>
          <a:p>
            <a:pPr algn="l"/>
            <a:r>
              <a:rPr lang="pt-BR" sz="1300" b="1" dirty="0">
                <a:solidFill>
                  <a:srgbClr val="065F46"/>
                </a:solidFill>
                <a:latin typeface="Calibri"/>
                <a:cs typeface="Calibri"/>
              </a:rPr>
              <a:t>• Fechamento em menos de 2 horas: </a:t>
            </a:r>
            <a:r>
              <a:rPr lang="pt-BR" sz="1250" dirty="0">
                <a:solidFill>
                  <a:srgbClr val="064E3B"/>
                </a:solidFill>
                <a:latin typeface="Calibri"/>
                <a:cs typeface="Calibri"/>
              </a:rPr>
              <a:t>Fatura R$ 90.679,77 = Rateado R$ 90.679,77 (Diferença R$ 0,00) + Excel SAP.</a:t>
            </a:r>
          </a:p>
        </p:txBody>
      </p:sp>
      <p:sp>
        <p:nvSpPr>
          <p:cNvPr id="5" name="ConclusionBox"/>
          <p:cNvSpPr/>
          <p:nvPr/>
        </p:nvSpPr>
        <p:spPr>
          <a:xfrm>
            <a:off x="450000" y="5400000"/>
            <a:ext cx="11292000" cy="980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284C7"/>
            </a:solidFill>
          </a:ln>
        </p:spPr>
        <p:txBody>
          <a:bodyPr wrap="square" lIns="220000" tIns="76200" rIns="114300" bIns="76200" anchor="ctr"/>
          <a:lstStyle/>
          <a:p>
            <a:pPr algn="l">
              <a:spcAft>
                <a:spcPts val="400"/>
              </a:spcAft>
            </a:pPr>
            <a:r>
              <a:rPr lang="pt-BR" sz="1300" b="1" dirty="0">
                <a:solidFill>
                  <a:srgbClr val="38BDF8"/>
                </a:solidFill>
                <a:latin typeface="Calibri"/>
                <a:cs typeface="Calibri"/>
              </a:rPr>
              <a:t>🎯 PARECER EXECUTIVO PARA A DIRETORIA</a:t>
            </a:r>
          </a:p>
          <a:p>
            <a:pPr algn="l"/>
            <a:r>
              <a:rPr lang="pt-BR" sz="1200" dirty="0">
                <a:solidFill>
                  <a:srgbClr val="F8FAFC"/>
                </a:solidFill>
                <a:latin typeface="Calibri"/>
                <a:cs typeface="Calibri"/>
              </a:rPr>
              <a:t>A base de Água &amp; Esgoto já está 100% homologada e auditada (64 lojas, 6.081 m³, R$ 90.679,77 sem divergência). O sistema elimina perdas financeiras do condomínio, pacifica a relação com os lojistas e está pronto para expansão imediata para Energia Elétrica e Gás.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opRateioTheme">
  <a:themeElements>
    <a:clrScheme name="ShopRateio">
      <a:dk1>
        <a:srgbClr val="0F172A"/>
      </a:dk1>
      <a:lt1>
        <a:srgbClr val="FFFFFF"/>
      </a:lt1>
      <a:dk2>
        <a:srgbClr val="1E293B"/>
      </a:dk2>
      <a:lt2>
        <a:srgbClr val="F8FAFC"/>
      </a:lt2>
      <a:accent1>
        <a:srgbClr val="0284C7"/>
      </a:accent1>
      <a:accent2>
        <a:srgbClr val="059669"/>
      </a:accent2>
      <a:accent3>
        <a:srgbClr val="38BDF8"/>
      </a:accent3>
      <a:accent4>
        <a:srgbClr val="F59E0B"/>
      </a:accent4>
      <a:accent5>
        <a:srgbClr val="E11D48"/>
      </a:accent5>
      <a:accent6>
        <a:srgbClr val="6366F1"/>
      </a:accent6>
      <a:hlink>
        <a:srgbClr val="0284C7"/>
      </a:hlink>
      <a:folHlink>
        <a:srgbClr val="0369A1"/>
      </a:folHlink>
    </a:clrScheme>
    <a:fontScheme name="ShopRateio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hopRateioFm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